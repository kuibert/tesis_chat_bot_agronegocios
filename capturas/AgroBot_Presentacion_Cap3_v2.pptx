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decir: "El sistema usa Google OAuth 2.0, el mismo estándar que usa Gmail o YouTube. Nosotros nunca vemos ni guardamos contraseñas. El historial es completamente privado para cada agricultor."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Hacer una pregunta agrícola, mostrar el indicador de carga, luego mostrar el botón de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decir: "Implementamos un protocolo de redirección. El sistema tiene un prompt que le dice que SOLO puede hablar de fertilización agrícola."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decir: "Usamos react-markdown con soporte GFM. Los datos de los Excels se presentan como tablas visuales y listas claras, no como texto plano."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365760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389120" cy="137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303520"/>
            <a:ext cx="320040" cy="3200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5303520"/>
            <a:ext cx="320040" cy="3200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5303520"/>
            <a:ext cx="320040" cy="3200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5303520"/>
            <a:ext cx="320040" cy="3200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5303520"/>
            <a:ext cx="320040" cy="3200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65760"/>
            <a:ext cx="1645920" cy="457200"/>
          </a:xfrm>
          <a:prstGeom prst="roundRect">
            <a:avLst>
              <a:gd name="adj" fmla="val 24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65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005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36576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031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Fertilización Agrícola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7432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Sonsonate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Ciencias Naturales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Prototipo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6858000" cy="457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651760"/>
            <a:ext cx="3291840" cy="1280160"/>
          </a:xfrm>
          <a:prstGeom prst="roundRect">
            <a:avLst>
              <a:gd name="adj" fmla="val 10714"/>
            </a:avLst>
          </a:prstGeom>
          <a:solidFill>
            <a:srgbClr val="16203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Moderno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2651760"/>
            <a:ext cx="3291840" cy="1280160"/>
          </a:xfrm>
          <a:prstGeom prst="roundRect">
            <a:avLst>
              <a:gd name="adj" fmla="val 10714"/>
            </a:avLst>
          </a:prstGeom>
          <a:solidFill>
            <a:srgbClr val="16203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3544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+ Llama 3.2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4206240"/>
            <a:ext cx="3291840" cy="1280160"/>
          </a:xfrm>
          <a:prstGeom prst="roundRect">
            <a:avLst>
              <a:gd name="adj" fmla="val 10714"/>
            </a:avLst>
          </a:prstGeom>
          <a:solidFill>
            <a:srgbClr val="16203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7784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DistilBERT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12480" y="4206240"/>
            <a:ext cx="3291840" cy="1280160"/>
          </a:xfrm>
          <a:prstGeom prst="roundRect">
            <a:avLst>
              <a:gd name="adj" fmla="val 10714"/>
            </a:avLst>
          </a:prstGeom>
          <a:solidFill>
            <a:srgbClr val="16203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23544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035040"/>
            <a:ext cx="27432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A2A18"/>
          </a:solidFill>
          <a:ln w="12700">
            <a:solidFill>
              <a:srgbClr val="0A2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3: Diseño y Metodología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114800" y="3931920"/>
            <a:ext cx="41148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Arquitectura General del Sistema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" y="1143000"/>
            <a:ext cx="120700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18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143000"/>
            <a:ext cx="411480" cy="1115568"/>
          </a:xfrm>
          <a:prstGeom prst="roundRect">
            <a:avLst>
              <a:gd name="adj" fmla="val 2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25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16184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TailwindCSS v4 · TypeScript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325880"/>
            <a:ext cx="36576" cy="7315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252728"/>
            <a:ext cx="6675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rápida y responsiva. Zustand para estado global. React Query v5 para caché de datos.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" y="2377440"/>
            <a:ext cx="120700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18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2377440"/>
            <a:ext cx="411480" cy="1115568"/>
          </a:xfrm>
          <a:prstGeom prst="roundRect">
            <a:avLst>
              <a:gd name="adj" fmla="val 2666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60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Drizzle ORM · TypeScript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2560320"/>
            <a:ext cx="36576" cy="7315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487168"/>
            <a:ext cx="6675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con tipado estricto. Drizzle ORM garantiza consultas seguras y tipo-seguras.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" y="3611880"/>
            <a:ext cx="120700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254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18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" y="3611880"/>
            <a:ext cx="411480" cy="1115568"/>
          </a:xfrm>
          <a:prstGeom prst="roundRect">
            <a:avLst>
              <a:gd name="adj" fmla="val 26667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947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08760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40873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extensión pgvector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3794760"/>
            <a:ext cx="36576" cy="7315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721608"/>
            <a:ext cx="6675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sesiones de usuario y vectores (embeddings) de +60 documentos agrícolas.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160" y="4846320"/>
            <a:ext cx="120700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2540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1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" y="4846320"/>
            <a:ext cx="411480" cy="1115568"/>
          </a:xfrm>
          <a:prstGeom prst="roundRect">
            <a:avLst>
              <a:gd name="adj" fmla="val 26667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029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508760" y="4937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08760" y="53218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 · Tokens JWT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5029200"/>
            <a:ext cx="36576" cy="7315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4956048"/>
            <a:ext cx="6675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seguro. Historial de chats 100% privado por usuario.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Núcleo de IA: Benchmarking de Modelos Locales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5669280" cy="5120640"/>
          </a:xfrm>
          <a:prstGeom prst="roundRect">
            <a:avLst>
              <a:gd name="adj" fmla="val 3571"/>
            </a:avLst>
          </a:prstGeom>
          <a:solidFill>
            <a:srgbClr val="1C2A3A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90500" dist="63500" dir="2700000">
              <a:srgbClr val="00000033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143000"/>
            <a:ext cx="5669280" cy="594360"/>
          </a:xfrm>
          <a:prstGeom prst="roundRect">
            <a:avLst>
              <a:gd name="adj" fmla="val 30769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Motor Generativo (Ollama)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19202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0.6B params  ·  2-4 GB 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Ultraligero. Respuesta casi instantánea.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hardware limitado.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9260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params  ·  6-8 GB 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más elaboradas y naturales.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calidad técnica agrícola.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31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3931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Probamos AMBOS → elegimos el más eficiente según el hardware disponible.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93776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937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nube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9377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· Sin pago por token · Sin internet requerido para inferencia.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143000"/>
            <a:ext cx="6035040" cy="5120640"/>
          </a:xfrm>
          <a:prstGeom prst="roundRect">
            <a:avLst>
              <a:gd name="adj" fmla="val 3571"/>
            </a:avLst>
          </a:prstGeom>
          <a:solidFill>
            <a:srgbClr val="1C2A3A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190500" dist="63500" dir="2700000">
              <a:srgbClr val="00000033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143000"/>
            <a:ext cx="6035040" cy="594360"/>
          </a:xfrm>
          <a:prstGeom prst="roundRect">
            <a:avLst>
              <a:gd name="adj" fmla="val 30769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1704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Motor de Búsqueda (DistilBERT)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192024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19202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Encoder — lee y comprende.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 texto. Solo analiza significado.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274320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743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35240" y="27432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texto → vector de 768 dimensiones.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matemáticamente el significado.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356616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566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35240" y="35661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distiluse-base-multilingual-cased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nativo en ESPAÑOL 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438912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389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5240" y="4389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(BERT original) + Hugging Face.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 Google en su buscador.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521208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212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35240" y="52120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semántica: entiende sinónimos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contexto, no solo palabras exactas.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Arquitectura RAG — Retrieval-Augmented Generation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" y="1143000"/>
            <a:ext cx="2834640" cy="5029200"/>
          </a:xfrm>
          <a:prstGeom prst="roundRect">
            <a:avLst>
              <a:gd name="adj" fmla="val 5806"/>
            </a:avLst>
          </a:prstGeom>
          <a:solidFill>
            <a:srgbClr val="F8FDF9"/>
          </a:solidFill>
          <a:ln w="25400">
            <a:solidFill>
              <a:srgbClr val="1A6B3C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2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14300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188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2860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6517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convierte la pregunta en vectores y busca en PostgreSQL los fragmentos más relevantes.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3246120"/>
            <a:ext cx="384048" cy="384048"/>
          </a:xfrm>
          <a:prstGeom prst="ellipse">
            <a:avLst/>
          </a:prstGeom>
          <a:solidFill>
            <a:srgbClr val="1C2A3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71800" y="2011680"/>
            <a:ext cx="201168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3657600"/>
            <a:ext cx="201168" cy="2286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1152144"/>
            <a:ext cx="548640" cy="320040"/>
          </a:xfrm>
          <a:prstGeom prst="rect">
            <a:avLst/>
          </a:prstGeom>
          <a:solidFill>
            <a:srgbClr val="1A6B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1143000"/>
            <a:ext cx="2834640" cy="5029200"/>
          </a:xfrm>
          <a:prstGeom prst="roundRect">
            <a:avLst>
              <a:gd name="adj" fmla="val 5806"/>
            </a:avLst>
          </a:prstGeom>
          <a:solidFill>
            <a:srgbClr val="F8FDF9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2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14300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188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24612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6517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fragmentos recuperados se inyectan al prompt enviado al modelo de lenguaje (invisible para el usuario).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3246120"/>
            <a:ext cx="384048" cy="384048"/>
          </a:xfrm>
          <a:prstGeom prst="ellipse">
            <a:avLst/>
          </a:prstGeom>
          <a:solidFill>
            <a:srgbClr val="1C2A3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9320" y="2011680"/>
            <a:ext cx="201168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3657600"/>
            <a:ext cx="201168" cy="2286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33288" y="1152144"/>
            <a:ext cx="548640" cy="32004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143000"/>
            <a:ext cx="2834640" cy="5029200"/>
          </a:xfrm>
          <a:prstGeom prst="roundRect">
            <a:avLst>
              <a:gd name="adj" fmla="val 5806"/>
            </a:avLst>
          </a:prstGeom>
          <a:solidFill>
            <a:srgbClr val="F8FDF9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20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14300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188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626364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6517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(Qwen / Llama) lee el contexto inyectado y genera una respuesta técnica natural.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15400" y="3246120"/>
            <a:ext cx="384048" cy="384048"/>
          </a:xfrm>
          <a:prstGeom prst="ellipse">
            <a:avLst/>
          </a:prstGeom>
          <a:solidFill>
            <a:srgbClr val="1C2A3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1540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06840" y="2011680"/>
            <a:ext cx="201168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0" y="3657600"/>
            <a:ext cx="201168" cy="2286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0808" y="1152144"/>
            <a:ext cx="548640" cy="32004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89720" y="1143000"/>
            <a:ext cx="2834640" cy="5029200"/>
          </a:xfrm>
          <a:prstGeom prst="roundRect">
            <a:avLst>
              <a:gd name="adj" fmla="val 5806"/>
            </a:avLst>
          </a:prstGeom>
          <a:solidFill>
            <a:srgbClr val="F8FDF9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2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89720" y="114300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1188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28116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ALUCINACIONES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0" y="26517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solo puede responder con información de tus Excels validados. No inventa datos.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37160" y="6263640"/>
            <a:ext cx="12070080" cy="457200"/>
          </a:xfrm>
          <a:prstGeom prst="roundRect">
            <a:avLst>
              <a:gd name="adj" fmla="val 20000"/>
            </a:avLst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6281928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RAG no es una IA — es la TÉCNICA que une DistilBERT + Llama/Qwen y elimina las alucinaciones.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035040"/>
            <a:ext cx="27432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A2A18"/>
          </a:solidFill>
          <a:ln w="12700">
            <a:solidFill>
              <a:srgbClr val="0A2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Prototipo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114800" y="3931920"/>
            <a:ext cx="41148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148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3.4 de la Tesis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Autenticación Segura — Google OAuth 2.0 (Sección 3.4.1-3.4.2)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" y="1060704"/>
            <a:ext cx="6473952" cy="4517136"/>
          </a:xfrm>
          <a:prstGeom prst="roundRect">
            <a:avLst>
              <a:gd name="adj" fmla="val 3644"/>
            </a:avLst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1097280"/>
            <a:ext cx="6400800" cy="4443984"/>
          </a:xfrm>
          <a:prstGeom prst="roundRect">
            <a:avLst>
              <a:gd name="adj" fmla="val 3292"/>
            </a:avLst>
          </a:prstGeom>
          <a:solidFill>
            <a:srgbClr val="2D2D2D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097280"/>
            <a:ext cx="6400800" cy="329184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" y="11887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188720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1188720"/>
            <a:ext cx="128016" cy="128016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1152144"/>
            <a:ext cx="4754880" cy="219456"/>
          </a:xfrm>
          <a:prstGeom prst="roundRect">
            <a:avLst>
              <a:gd name="adj" fmla="val 25000"/>
            </a:avLst>
          </a:prstGeom>
          <a:solidFill>
            <a:srgbClr val="3D3D3D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161288"/>
            <a:ext cx="4663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800" dirty="0"/>
          </a:p>
        </p:txBody>
      </p:sp>
      <p:pic>
        <p:nvPicPr>
          <p:cNvPr id="16" name="Image 0" descr="C:/Users/Moris/OneDrive/Documentos/Tesis/capturas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" y="1426464"/>
            <a:ext cx="6327648" cy="407822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858000" y="1216152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60920" y="11430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60920" y="154533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la industria. Sin contraseñas que hackear.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0" y="2203704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60920" y="21305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Privado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60920" y="253288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solo sus propias conversaciones.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0" y="3191256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60920" y="31181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manual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360920" y="35204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y estás dentro. Compatible con cualquier cuenta Google.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58000" y="4178808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60920" y="410565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JWT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360920" y="450799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segura y con expiración automática.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58000" y="5166360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360920" y="50932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almacenamiento de contraseñas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360920" y="549554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tocamos la contraseña del usuario.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Interfaz de Chat — UX/UI Principal (Sección 3.4.3)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" y="1060704"/>
            <a:ext cx="6473952" cy="4517136"/>
          </a:xfrm>
          <a:prstGeom prst="roundRect">
            <a:avLst>
              <a:gd name="adj" fmla="val 3644"/>
            </a:avLst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1097280"/>
            <a:ext cx="6400800" cy="4443984"/>
          </a:xfrm>
          <a:prstGeom prst="roundRect">
            <a:avLst>
              <a:gd name="adj" fmla="val 3292"/>
            </a:avLst>
          </a:prstGeom>
          <a:solidFill>
            <a:srgbClr val="2D2D2D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097280"/>
            <a:ext cx="6400800" cy="329184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" y="11887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188720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1188720"/>
            <a:ext cx="128016" cy="128016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1152144"/>
            <a:ext cx="4754880" cy="219456"/>
          </a:xfrm>
          <a:prstGeom prst="roundRect">
            <a:avLst>
              <a:gd name="adj" fmla="val 25000"/>
            </a:avLst>
          </a:prstGeom>
          <a:solidFill>
            <a:srgbClr val="3D3D3D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161288"/>
            <a:ext cx="4663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800" dirty="0"/>
          </a:p>
        </p:txBody>
      </p:sp>
      <p:pic>
        <p:nvPicPr>
          <p:cNvPr id="16" name="Image 0" descr="C:/Users/Moris/OneDrive/Documentos/Tesis/capturas/interfaz de ch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" y="1426464"/>
            <a:ext cx="6327648" cy="407822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858000" y="1216152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60920" y="11430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RAG inteligente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60920" y="154533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"Consultando base de datos agrícola..." — confirma que RAG está activo.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0" y="2203704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60920" y="21305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STOP ⏹️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60920" y="253288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 cancela la generación en cualquier momento.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0" y="319125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60920" y="31181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respuesta 📋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360920" y="35204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copia toda la respuesta al portapapeles.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58000" y="4178808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60920" y="410565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Auto-scroll ↕️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360920" y="450799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baja automáticamente al final de la respuesta.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58000" y="516636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360920" y="50932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y Organizar ✏️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360920" y="549554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agricultor puede etiquetar y organizar sus sesiones.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Protocolo de Seguridad: "El Muro" (Sección 3.4.7)</a:t>
            </a:r>
            <a:endParaRPr lang="en-US" sz="2400" dirty="0"/>
          </a:p>
        </p:txBody>
      </p:sp>
      <p:pic>
        <p:nvPicPr>
          <p:cNvPr id="8" name="Image 0" descr="C:/Users/Moris/OneDrive/Documentos/Tesis/capturas/protocolo de seguridad el mu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097280"/>
            <a:ext cx="6583680" cy="4846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114300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EAFAF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Preguntas PERMITIDAS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86600" y="17190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¿Cuándo fertilizo el maíz?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215798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¿Qué dosis de nitrógeno usa el frijol?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86600" y="259689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¿Cuál es el calendario del café?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49440" y="338328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Preguntas BLOQUEADAS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086600" y="395020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¿Quién ganó el mundial?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86600" y="438912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Escríbeme una canción.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86600" y="482803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¿Qué película me recomiendas?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37160" y="5989320"/>
            <a:ext cx="12070080" cy="457200"/>
          </a:xfrm>
          <a:prstGeom prst="roundRect">
            <a:avLst>
              <a:gd name="adj" fmla="val 20000"/>
            </a:avLst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6007608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 prompt instruye al modelo: "Solo puedes responder sobre fertilización agrícola".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Renderizado Dinámico de Tablas (Sección 3.4.6)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" y="1060704"/>
            <a:ext cx="6473952" cy="4517136"/>
          </a:xfrm>
          <a:prstGeom prst="roundRect">
            <a:avLst>
              <a:gd name="adj" fmla="val 3644"/>
            </a:avLst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1097280"/>
            <a:ext cx="6400800" cy="4443984"/>
          </a:xfrm>
          <a:prstGeom prst="roundRect">
            <a:avLst>
              <a:gd name="adj" fmla="val 3292"/>
            </a:avLst>
          </a:prstGeom>
          <a:solidFill>
            <a:srgbClr val="2D2D2D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097280"/>
            <a:ext cx="6400800" cy="329184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" y="11887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188720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1188720"/>
            <a:ext cx="128016" cy="128016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1152144"/>
            <a:ext cx="4754880" cy="219456"/>
          </a:xfrm>
          <a:prstGeom prst="roundRect">
            <a:avLst>
              <a:gd name="adj" fmla="val 25000"/>
            </a:avLst>
          </a:prstGeom>
          <a:solidFill>
            <a:srgbClr val="3D3D3D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161288"/>
            <a:ext cx="4663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800" dirty="0"/>
          </a:p>
        </p:txBody>
      </p:sp>
      <p:pic>
        <p:nvPicPr>
          <p:cNvPr id="16" name="Image 0" descr="C:/Users/Moris/OneDrive/Documentos/Tesis/capturas/renderizado de dinamico de tabl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" y="1426464"/>
            <a:ext cx="6327648" cy="407822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858000" y="1216152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60920" y="11430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Excels agrícolas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60920" y="154533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calendarios son tablas en hojas de cálculo validadas.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0" y="2203704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60920" y="21305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automática a Markdown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60920" y="253288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convierte filas y columnas a formato Markdown.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0" y="3191256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60920" y="31181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HTML nativo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360920" y="35204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react-markdown + GFM convierte Markdown a HTML visual.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58000" y="4178808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60920" y="410565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Negritas, listas y código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360920" y="450799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puede destacar dosis, pasos y fórmulas técnicas.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58000" y="5166360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360920" y="50932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visual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360920" y="549554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limpias, fáciles de leer para el agricultor.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035040"/>
            <a:ext cx="27432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y Conclusiones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114800" y="3931920"/>
            <a:ext cx="41148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3.5 de la Tesis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Análisis de Factibilidad (Sección 3.5)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" y="1143000"/>
            <a:ext cx="3886200" cy="507492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25400">
            <a:solidFill>
              <a:srgbClr val="1A6B3C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18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143000"/>
            <a:ext cx="3886200" cy="658368"/>
          </a:xfrm>
          <a:prstGeom prst="roundRect">
            <a:avLst>
              <a:gd name="adj" fmla="val 25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95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Técnica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— Stack moderno y maduro.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786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Modelos IA en local, sin nube.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10128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3697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Despliegue portable y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68496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953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Búsqueda vectorial en PostgreSQL.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26864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5371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conexión intermitente (edge).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5285232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12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Código tipado y menos errores.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1143000"/>
            <a:ext cx="3886200" cy="507492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1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1143000"/>
            <a:ext cx="3886200" cy="658368"/>
          </a:xfrm>
          <a:prstGeom prst="roundRect">
            <a:avLst>
              <a:gd name="adj" fmla="val 2500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11795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Económica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43400" y="1993392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20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en APIs externas (OpenAI, Google AI).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2651760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5786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PC estándar con 8 GB RAM.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3310128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23697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Todas las tecnologías son gratuitas.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3968496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8953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por consulta al chatbot.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4626864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55371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sin costo adicional de infraestructura.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5285232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5212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costo: servidor local para producción.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75320" y="1143000"/>
            <a:ext cx="3886200" cy="507492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18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75320" y="1143000"/>
            <a:ext cx="3886200" cy="658368"/>
          </a:xfrm>
          <a:prstGeom prst="roundRect">
            <a:avLst>
              <a:gd name="adj" fmla="val 25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11795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Operativa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412480" y="1993392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1920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intuitiva, sin curva de aprendizaje.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265176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25786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cuenta Google (ya la tienen).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0" y="3310128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323697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en lenguaje natural simple.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12480" y="3968496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38953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celular, tablet o PC.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12480" y="4626864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455371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datos: solo ejecutar script de ingestión.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12480" y="5285232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0" y="5212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instalación incluido (INSTALLATION.md).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288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Universidad de Sonsonate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transforma más de 60 calendarios de fertilización históricos en una herramienta de consulta inteligente, accesible e inmediata — democratizando el conocimiento agronómico técnico de la zona occidental de El Salvador.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663440"/>
            <a:ext cx="41148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800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Capítulo 3: Metodología de AgroBot —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49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5349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5897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datos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5349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5897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objetivo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5349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418320" y="5897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en APIs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A2A18"/>
          </a:solidFill>
          <a:ln w="12700">
            <a:solidFill>
              <a:srgbClr val="0A2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200" dirty="0"/>
          </a:p>
        </p:txBody>
      </p:sp>
      <p:sp>
        <p:nvSpPr>
          <p:cNvPr id="8" name="Shape 6"/>
          <p:cNvSpPr/>
          <p:nvPr/>
        </p:nvSpPr>
        <p:spPr>
          <a:xfrm>
            <a:off x="4114800" y="2834640"/>
            <a:ext cx="411480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AgroBot — Asistente Virtual para Fertilización Agrícola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Sonsonate  |  Facultad de Ingeniería y Ciencias Naturales  |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2026-06-09T02:40:39Z</dcterms:created>
  <dcterms:modified xsi:type="dcterms:W3CDTF">2026-06-09T02:40:39Z</dcterms:modified>
</cp:coreProperties>
</file>