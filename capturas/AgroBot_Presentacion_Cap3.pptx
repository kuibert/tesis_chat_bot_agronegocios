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"Elegimos un stack tecnológico moderno que garantiza escalabilidad. Drizzle ORM nos permite interactuar con la base de datos de forma segura y eficiente, mientras que React 18 nos da una interfaz fluida y rápida."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"Para la generación de respuestas, sometimos a prueba dos modelos: Qwen y Llama 3.2. Ambos se ejecutan localmente sin necesidad de internet ni pago por uso. DistilBERT es nuestro motor de búsqueda semántica, traduciendo preguntas y documentos a vectores matemáticos."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"RAG no es una IA, es el nombre de la técnica que une DistilBERT y Llama. Es lo que impide que el sistema invente datos. La IA solo puede hablar de lo que encontró en tus documentos."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 sistema cuenta con autenticación segura mediante Google OAuth. Esto significa que ni siquiera nosotros almacenamos contraseñas. El historial de chats es completamente privado para cada agricultor."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1) Haz una pregunta agrícola y muestra el indicador de carga. 2) Muestra el botón de STOP en acción. 3) Muestra el botón de copiar.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"Implementamos un protocolo de redirección. El sistema tiene un prompt de sistema que le dice que SOLO puede hablar de fertilización agrícola. Si le preguntan otra cosa, lo rechaza educadamente. Esto garantiza que el agricultor siempre reciba información técnica de calidad."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"Usamos la librería react-markdown con soporte GFM para renderizar la respuesta. Esto es importante porque nuestros datos vienen de Excels con tablas, y el sistema las presenta de forma visual y limpia al agricultor."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"Una ventaja clave de nuestra arquitectura es el costo cero en APIs. No pagamos por cada consulta al chatbot. El modelo corre en la máquina local del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5E20"/>
          </a:solidFill>
          <a:ln/>
        </p:spPr>
      </p:sp>
      <p:sp>
        <p:nvSpPr>
          <p:cNvPr id="3" name="Shape 1"/>
          <p:cNvSpPr/>
          <p:nvPr/>
        </p:nvSpPr>
        <p:spPr>
          <a:xfrm>
            <a:off x="0" y="5303520"/>
            <a:ext cx="12192000" cy="457200"/>
          </a:xfrm>
          <a:prstGeom prst="rect">
            <a:avLst/>
          </a:prstGeom>
          <a:solidFill>
            <a:srgbClr val="4CAF50"/>
          </a:solidFill>
          <a:ln/>
        </p:spPr>
      </p:sp>
      <p:sp>
        <p:nvSpPr>
          <p:cNvPr id="4" name="Text 2"/>
          <p:cNvSpPr/>
          <p:nvPr/>
        </p:nvSpPr>
        <p:spPr>
          <a:xfrm>
            <a:off x="457200" y="731520"/>
            <a:ext cx="10972800" cy="731520"/>
          </a:xfrm>
          <a:prstGeom prst="rect">
            <a:avLst/>
          </a:prstGeom>
          <a:noFill/>
          <a:ln/>
        </p:spPr>
        <p:txBody>
          <a:bodyPr wrap="square" rtlCol="0" anchor="ctr"/>
          <a:lstStyle/>
          <a:p>
            <a:pPr algn="ctr" indent="0" marL="0">
              <a:buNone/>
            </a:pPr>
            <a:r>
              <a:rPr lang="en-US" sz="3600" b="1" dirty="0">
                <a:solidFill>
                  <a:srgbClr val="4CAF50"/>
                </a:solidFill>
                <a:latin typeface="Calibri" pitchFamily="34" charset="0"/>
                <a:ea typeface="Calibri" pitchFamily="34" charset="-122"/>
                <a:cs typeface="Calibri" pitchFamily="34" charset="-120"/>
              </a:rPr>
              <a:t>AgroBot</a:t>
            </a:r>
            <a:endParaRPr lang="en-US" sz="3600" dirty="0"/>
          </a:p>
        </p:txBody>
      </p:sp>
      <p:sp>
        <p:nvSpPr>
          <p:cNvPr id="5" name="Text 3"/>
          <p:cNvSpPr/>
          <p:nvPr/>
        </p:nvSpPr>
        <p:spPr>
          <a:xfrm>
            <a:off x="457200" y="1645920"/>
            <a:ext cx="1097280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Capítulo 3: Metodología y Prototipo del Asistente Virtual Agrícola</a:t>
            </a:r>
            <a:endParaRPr lang="en-US" sz="2800" dirty="0"/>
          </a:p>
        </p:txBody>
      </p:sp>
      <p:sp>
        <p:nvSpPr>
          <p:cNvPr id="6" name="Text 4"/>
          <p:cNvSpPr/>
          <p:nvPr/>
        </p:nvSpPr>
        <p:spPr>
          <a:xfrm>
            <a:off x="914400" y="3200400"/>
            <a:ext cx="10058400" cy="1097280"/>
          </a:xfrm>
          <a:prstGeom prst="rect">
            <a:avLst/>
          </a:prstGeom>
          <a:noFill/>
          <a:ln/>
        </p:spPr>
        <p:txBody>
          <a:bodyPr wrap="square" rtlCol="0" anchor="ctr"/>
          <a:lstStyle/>
          <a:p>
            <a:pPr algn="ctr" indent="0" marL="0">
              <a:buNone/>
            </a:pPr>
            <a:r>
              <a:rPr lang="en-US" sz="1600" dirty="0">
                <a:solidFill>
                  <a:srgbClr val="C8E6C9"/>
                </a:solidFill>
                <a:latin typeface="Calibri" pitchFamily="34" charset="0"/>
                <a:ea typeface="Calibri" pitchFamily="34" charset="-122"/>
                <a:cs typeface="Calibri" pitchFamily="34" charset="-120"/>
              </a:rPr>
              <a:t>Diseño e Implementación de AgroBot — Un sistema RAG con IA Local para Fertilización Agrícola</a:t>
            </a:r>
            <a:endParaRPr lang="en-US" sz="1600" dirty="0"/>
          </a:p>
        </p:txBody>
      </p:sp>
      <p:sp>
        <p:nvSpPr>
          <p:cNvPr id="7" name="Text 5"/>
          <p:cNvSpPr/>
          <p:nvPr/>
        </p:nvSpPr>
        <p:spPr>
          <a:xfrm>
            <a:off x="457200" y="5394960"/>
            <a:ext cx="10972800"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Universidad de Sonsonate  |  Facultad de Ingeniería y Ciencias Naturales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1F8E9"/>
          </a:solidFill>
          <a:ln/>
        </p:spPr>
      </p:sp>
      <p:sp>
        <p:nvSpPr>
          <p:cNvPr id="3" name="Shape 1"/>
          <p:cNvSpPr/>
          <p:nvPr/>
        </p:nvSpPr>
        <p:spPr>
          <a:xfrm>
            <a:off x="0" y="0"/>
            <a:ext cx="137160" cy="6858000"/>
          </a:xfrm>
          <a:prstGeom prst="rect">
            <a:avLst/>
          </a:prstGeom>
          <a:solidFill>
            <a:srgbClr val="1B5E20"/>
          </a:solidFill>
          <a:ln/>
        </p:spPr>
      </p:sp>
      <p:sp>
        <p:nvSpPr>
          <p:cNvPr id="4" name="Shape 2"/>
          <p:cNvSpPr/>
          <p:nvPr/>
        </p:nvSpPr>
        <p:spPr>
          <a:xfrm>
            <a:off x="0" y="2834640"/>
            <a:ext cx="12192000" cy="73152"/>
          </a:xfrm>
          <a:prstGeom prst="rect">
            <a:avLst/>
          </a:prstGeom>
          <a:solidFill>
            <a:srgbClr val="4CAF50"/>
          </a:solidFill>
          <a:ln/>
        </p:spPr>
      </p:sp>
      <p:sp>
        <p:nvSpPr>
          <p:cNvPr id="5" name="Text 3"/>
          <p:cNvSpPr/>
          <p:nvPr/>
        </p:nvSpPr>
        <p:spPr>
          <a:xfrm>
            <a:off x="457200" y="2286000"/>
            <a:ext cx="10972800" cy="1097280"/>
          </a:xfrm>
          <a:prstGeom prst="rect">
            <a:avLst/>
          </a:prstGeom>
          <a:noFill/>
          <a:ln/>
        </p:spPr>
        <p:txBody>
          <a:bodyPr wrap="square" rtlCol="0" anchor="ctr"/>
          <a:lstStyle/>
          <a:p>
            <a:pPr algn="ctr" indent="0" marL="0">
              <a:buNone/>
            </a:pPr>
            <a:r>
              <a:rPr lang="en-US" sz="3200" b="1" dirty="0">
                <a:solidFill>
                  <a:srgbClr val="1B5E20"/>
                </a:solidFill>
                <a:latin typeface="Calibri" pitchFamily="34" charset="0"/>
                <a:ea typeface="Calibri" pitchFamily="34" charset="-122"/>
                <a:cs typeface="Calibri" pitchFamily="34" charset="-120"/>
              </a:rPr>
              <a:t>PARTE 1: Capítulo 3 — Diseño y Metodología</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1005840"/>
          </a:xfrm>
          <a:prstGeom prst="rect">
            <a:avLst/>
          </a:prstGeom>
          <a:solidFill>
            <a:srgbClr val="1B5E20"/>
          </a:solidFill>
          <a:ln/>
        </p:spPr>
      </p:sp>
      <p:sp>
        <p:nvSpPr>
          <p:cNvPr id="4" name="Shape 2"/>
          <p:cNvSpPr/>
          <p:nvPr/>
        </p:nvSpPr>
        <p:spPr>
          <a:xfrm>
            <a:off x="0" y="6492240"/>
            <a:ext cx="12192000" cy="365760"/>
          </a:xfrm>
          <a:prstGeom prst="rect">
            <a:avLst/>
          </a:prstGeom>
          <a:solidFill>
            <a:srgbClr val="4CAF50"/>
          </a:solidFill>
          <a:ln/>
        </p:spPr>
      </p:sp>
      <p:sp>
        <p:nvSpPr>
          <p:cNvPr id="5" name="Shape 3"/>
          <p:cNvSpPr/>
          <p:nvPr/>
        </p:nvSpPr>
        <p:spPr>
          <a:xfrm>
            <a:off x="0" y="1005840"/>
            <a:ext cx="109728" cy="5486400"/>
          </a:xfrm>
          <a:prstGeom prst="rect">
            <a:avLst/>
          </a:prstGeom>
          <a:solidFill>
            <a:srgbClr val="4CAF50"/>
          </a:solidFill>
          <a:ln/>
        </p:spPr>
      </p:sp>
      <p:sp>
        <p:nvSpPr>
          <p:cNvPr id="6" name="Text 4"/>
          <p:cNvSpPr/>
          <p:nvPr/>
        </p:nvSpPr>
        <p:spPr>
          <a:xfrm>
            <a:off x="274320" y="109728"/>
            <a:ext cx="1161288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Diapositiva 1 — Arquitectura General del Sistema</a:t>
            </a:r>
            <a:endParaRPr lang="en-US" sz="2200" dirty="0"/>
          </a:p>
        </p:txBody>
      </p:sp>
      <p:sp>
        <p:nvSpPr>
          <p:cNvPr id="7" name="Text 5"/>
          <p:cNvSpPr/>
          <p:nvPr/>
        </p:nvSpPr>
        <p:spPr>
          <a:xfrm>
            <a:off x="365760" y="1143000"/>
            <a:ext cx="11521440" cy="5212080"/>
          </a:xfrm>
          <a:prstGeom prst="rect">
            <a:avLst/>
          </a:prstGeom>
          <a:noFill/>
          <a:ln/>
        </p:spPr>
        <p:txBody>
          <a:bodyPr wrap="square" rtlCol="0" anchor="t"/>
          <a:lstStyle/>
          <a:p>
            <a:pPr>
              <a:spcAft>
                <a:spcPts val="600"/>
              </a:spcAft>
            </a:pPr>
            <a:r>
              <a:rPr lang="en-US" sz="1500" dirty="0">
                <a:solidFill>
                  <a:srgbClr val="1A1A2E"/>
                </a:solidFill>
                <a:latin typeface="Calibri" pitchFamily="34" charset="0"/>
                <a:ea typeface="Calibri" pitchFamily="34" charset="-122"/>
                <a:cs typeface="Calibri" pitchFamily="34" charset="-120"/>
              </a:rPr>
              <a:t>🖥️  FRONTEND — React 18 + Vite + TailwindCSS v4</a:t>
            </a:r>
            <a:endParaRPr lang="en-US" sz="1500" dirty="0"/>
          </a:p>
          <a:p>
            <a:pPr>
              <a:spcAft>
                <a:spcPts val="400"/>
              </a:spcAft>
            </a:pPr>
            <a:r>
              <a:rPr lang="en-US" sz="1300" dirty="0">
                <a:solidFill>
                  <a:srgbClr val="444444"/>
                </a:solidFill>
                <a:latin typeface="Calibri" pitchFamily="34" charset="0"/>
                <a:ea typeface="Calibri" pitchFamily="34" charset="-122"/>
                <a:cs typeface="Calibri" pitchFamily="34" charset="-120"/>
              </a:rPr>
              <a:t>Interfaz de usuario rápida, responsiva y accesible desde cualquier dispositivo.</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BACKEND — Node.js + Express + Drizzle ORM</a:t>
            </a:r>
            <a:endParaRPr lang="en-US" sz="1500" dirty="0"/>
          </a:p>
          <a:p>
            <a:pPr>
              <a:spcAft>
                <a:spcPts val="400"/>
              </a:spcAft>
            </a:pPr>
            <a:r>
              <a:rPr lang="en-US" sz="1300" dirty="0">
                <a:solidFill>
                  <a:srgbClr val="444444"/>
                </a:solidFill>
                <a:latin typeface="Calibri" pitchFamily="34" charset="0"/>
                <a:ea typeface="Calibri" pitchFamily="34" charset="-122"/>
                <a:cs typeface="Calibri" pitchFamily="34" charset="-120"/>
              </a:rPr>
              <a:t>API RESTful robusta con tipado estricto. Drizzle ORM garantiza consultas seguras y eficientes.</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BASE DE DATOS — PostgreSQL + extensión pgvector</a:t>
            </a:r>
            <a:endParaRPr lang="en-US" sz="1500" dirty="0"/>
          </a:p>
          <a:p>
            <a:pPr>
              <a:spcAft>
                <a:spcPts val="400"/>
              </a:spcAft>
            </a:pPr>
            <a:r>
              <a:rPr lang="en-US" sz="1300" dirty="0">
                <a:solidFill>
                  <a:srgbClr val="444444"/>
                </a:solidFill>
                <a:latin typeface="Calibri" pitchFamily="34" charset="0"/>
                <a:ea typeface="Calibri" pitchFamily="34" charset="-122"/>
                <a:cs typeface="Calibri" pitchFamily="34" charset="-120"/>
              </a:rPr>
              <a:t>Almacena datos de sesión del usuario y los vectores (embeddings) de los documentos agrícolas.</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AUTENTICACIÓN — Google OAuth 2.0</a:t>
            </a:r>
            <a:endParaRPr lang="en-US" sz="1500" dirty="0"/>
          </a:p>
          <a:p>
            <a:pPr>
              <a:spcAft>
                <a:spcPts val="400"/>
              </a:spcAft>
            </a:pPr>
            <a:r>
              <a:rPr lang="en-US" sz="1300" dirty="0">
                <a:solidFill>
                  <a:srgbClr val="444444"/>
                </a:solidFill>
                <a:latin typeface="Calibri" pitchFamily="34" charset="0"/>
                <a:ea typeface="Calibri" pitchFamily="34" charset="-122"/>
                <a:cs typeface="Calibri" pitchFamily="34" charset="-120"/>
              </a:rPr>
              <a:t>Inicio de sesión seguro. El historial de chats es privado por usuario.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1005840"/>
          </a:xfrm>
          <a:prstGeom prst="rect">
            <a:avLst/>
          </a:prstGeom>
          <a:solidFill>
            <a:srgbClr val="1B5E20"/>
          </a:solidFill>
          <a:ln/>
        </p:spPr>
      </p:sp>
      <p:sp>
        <p:nvSpPr>
          <p:cNvPr id="4" name="Shape 2"/>
          <p:cNvSpPr/>
          <p:nvPr/>
        </p:nvSpPr>
        <p:spPr>
          <a:xfrm>
            <a:off x="0" y="6492240"/>
            <a:ext cx="12192000" cy="365760"/>
          </a:xfrm>
          <a:prstGeom prst="rect">
            <a:avLst/>
          </a:prstGeom>
          <a:solidFill>
            <a:srgbClr val="4CAF50"/>
          </a:solidFill>
          <a:ln/>
        </p:spPr>
      </p:sp>
      <p:sp>
        <p:nvSpPr>
          <p:cNvPr id="5" name="Text 3"/>
          <p:cNvSpPr/>
          <p:nvPr/>
        </p:nvSpPr>
        <p:spPr>
          <a:xfrm>
            <a:off x="274320" y="109728"/>
            <a:ext cx="1161288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Diapositiva 2 — Núcleo de IA: Benchmarking de Modelos Locales</a:t>
            </a:r>
            <a:endParaRPr lang="en-US" sz="2200" dirty="0"/>
          </a:p>
        </p:txBody>
      </p:sp>
      <p:sp>
        <p:nvSpPr>
          <p:cNvPr id="6" name="Shape 4"/>
          <p:cNvSpPr/>
          <p:nvPr/>
        </p:nvSpPr>
        <p:spPr>
          <a:xfrm>
            <a:off x="274320" y="1097280"/>
            <a:ext cx="5394960" cy="5212080"/>
          </a:xfrm>
          <a:prstGeom prst="rect">
            <a:avLst/>
          </a:prstGeom>
          <a:solidFill>
            <a:srgbClr val="F1F8E9"/>
          </a:solidFill>
          <a:ln w="19050">
            <a:solidFill>
              <a:srgbClr val="4CAF50"/>
            </a:solidFill>
            <a:prstDash val="solid"/>
          </a:ln>
        </p:spPr>
      </p:sp>
      <p:sp>
        <p:nvSpPr>
          <p:cNvPr id="7" name="Shape 5"/>
          <p:cNvSpPr/>
          <p:nvPr/>
        </p:nvSpPr>
        <p:spPr>
          <a:xfrm>
            <a:off x="6309360" y="1097280"/>
            <a:ext cx="5394960" cy="5212080"/>
          </a:xfrm>
          <a:prstGeom prst="rect">
            <a:avLst/>
          </a:prstGeom>
          <a:solidFill>
            <a:srgbClr val="F1F8E9"/>
          </a:solidFill>
          <a:ln w="19050">
            <a:solidFill>
              <a:srgbClr val="1B5E20"/>
            </a:solidFill>
            <a:prstDash val="solid"/>
          </a:ln>
        </p:spPr>
      </p:sp>
      <p:sp>
        <p:nvSpPr>
          <p:cNvPr id="8" name="Text 6"/>
          <p:cNvSpPr/>
          <p:nvPr/>
        </p:nvSpPr>
        <p:spPr>
          <a:xfrm>
            <a:off x="457200" y="1143000"/>
            <a:ext cx="5029200" cy="457200"/>
          </a:xfrm>
          <a:prstGeom prst="rect">
            <a:avLst/>
          </a:prstGeom>
          <a:noFill/>
          <a:ln/>
        </p:spPr>
        <p:txBody>
          <a:bodyPr wrap="square" rtlCol="0" anchor="ctr"/>
          <a:lstStyle/>
          <a:p>
            <a:pPr indent="0" marL="0">
              <a:buNone/>
            </a:pPr>
            <a:r>
              <a:rPr lang="en-US" sz="1400" b="1" dirty="0">
                <a:solidFill>
                  <a:srgbClr val="1B5E20"/>
                </a:solidFill>
                <a:latin typeface="Calibri" pitchFamily="34" charset="0"/>
                <a:ea typeface="Calibri" pitchFamily="34" charset="-122"/>
                <a:cs typeface="Calibri" pitchFamily="34" charset="-120"/>
              </a:rPr>
              <a:t>🧠 Modelo Generativo (Ollama)</a:t>
            </a:r>
            <a:endParaRPr lang="en-US" sz="1400" dirty="0"/>
          </a:p>
        </p:txBody>
      </p:sp>
      <p:sp>
        <p:nvSpPr>
          <p:cNvPr id="9" name="Text 7"/>
          <p:cNvSpPr/>
          <p:nvPr/>
        </p:nvSpPr>
        <p:spPr>
          <a:xfrm>
            <a:off x="457200" y="1645920"/>
            <a:ext cx="5029200" cy="4572000"/>
          </a:xfrm>
          <a:prstGeom prst="rect">
            <a:avLst/>
          </a:prstGeom>
          <a:noFill/>
          <a:ln/>
        </p:spPr>
        <p:txBody>
          <a:bodyPr wrap="square" rtlCol="0" anchor="t"/>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Qwen — Modelo de 0.6B parámetros, ultraligero.</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Llama 3.2 — Modelo de 3B parámetros, muy buenas respuestas.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Ejecutados LOCAL­MENTE. Sin nube. Sin costo por token.</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Probamos AMBOS para elegir el más eficiente.</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Criterio: Velocidad de inferencia vs. Calidad de respuesta.</a:t>
            </a:r>
            <a:endParaRPr lang="en-US" sz="1300" dirty="0"/>
          </a:p>
        </p:txBody>
      </p:sp>
      <p:sp>
        <p:nvSpPr>
          <p:cNvPr id="10" name="Text 8"/>
          <p:cNvSpPr/>
          <p:nvPr/>
        </p:nvSpPr>
        <p:spPr>
          <a:xfrm>
            <a:off x="6492240" y="1143000"/>
            <a:ext cx="5029200" cy="457200"/>
          </a:xfrm>
          <a:prstGeom prst="rect">
            <a:avLst/>
          </a:prstGeom>
          <a:noFill/>
          <a:ln/>
        </p:spPr>
        <p:txBody>
          <a:bodyPr wrap="square" rtlCol="0" anchor="ctr"/>
          <a:lstStyle/>
          <a:p>
            <a:pPr indent="0" marL="0">
              <a:buNone/>
            </a:pPr>
            <a:r>
              <a:rPr lang="en-US" sz="1400" b="1" dirty="0">
                <a:solidFill>
                  <a:srgbClr val="1B5E20"/>
                </a:solidFill>
                <a:latin typeface="Calibri" pitchFamily="34" charset="0"/>
                <a:ea typeface="Calibri" pitchFamily="34" charset="-122"/>
                <a:cs typeface="Calibri" pitchFamily="34" charset="-120"/>
              </a:rPr>
              <a:t>🔍 Modelo de Búsqueda (DistilBERT)</a:t>
            </a:r>
            <a:endParaRPr lang="en-US" sz="1400" dirty="0"/>
          </a:p>
        </p:txBody>
      </p:sp>
      <p:sp>
        <p:nvSpPr>
          <p:cNvPr id="11" name="Text 9"/>
          <p:cNvSpPr/>
          <p:nvPr/>
        </p:nvSpPr>
        <p:spPr>
          <a:xfrm>
            <a:off x="6492240" y="1645920"/>
            <a:ext cx="5029200" cy="4572000"/>
          </a:xfrm>
          <a:prstGeom prst="rect">
            <a:avLst/>
          </a:prstGeom>
          <a:noFill/>
          <a:ln/>
        </p:spPr>
        <p:txBody>
          <a:bodyPr wrap="square" rtlCol="0" anchor="t"/>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Modelo "Encoder" — lee y comprende, no habla.</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DistilUSE-base-multilingual-cased.</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Genera vectores de 768 dimensiones por cada texto.</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Desarrollado por Google y Hugging Face.</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Sin este modelo, la búsqueda semántica no existe.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1005840"/>
          </a:xfrm>
          <a:prstGeom prst="rect">
            <a:avLst/>
          </a:prstGeom>
          <a:solidFill>
            <a:srgbClr val="1B5E20"/>
          </a:solidFill>
          <a:ln/>
        </p:spPr>
      </p:sp>
      <p:sp>
        <p:nvSpPr>
          <p:cNvPr id="4" name="Shape 2"/>
          <p:cNvSpPr/>
          <p:nvPr/>
        </p:nvSpPr>
        <p:spPr>
          <a:xfrm>
            <a:off x="0" y="6492240"/>
            <a:ext cx="12192000" cy="365760"/>
          </a:xfrm>
          <a:prstGeom prst="rect">
            <a:avLst/>
          </a:prstGeom>
          <a:solidFill>
            <a:srgbClr val="4CAF50"/>
          </a:solidFill>
          <a:ln/>
        </p:spPr>
      </p:sp>
      <p:sp>
        <p:nvSpPr>
          <p:cNvPr id="5" name="Text 3"/>
          <p:cNvSpPr/>
          <p:nvPr/>
        </p:nvSpPr>
        <p:spPr>
          <a:xfrm>
            <a:off x="274320" y="109728"/>
            <a:ext cx="1161288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Diapositiva 3 — Arquitectura RAG (Retrieval-Augmented Generation)</a:t>
            </a:r>
            <a:endParaRPr lang="en-US" sz="2200" dirty="0"/>
          </a:p>
        </p:txBody>
      </p:sp>
      <p:sp>
        <p:nvSpPr>
          <p:cNvPr id="6" name="Shape 4"/>
          <p:cNvSpPr/>
          <p:nvPr/>
        </p:nvSpPr>
        <p:spPr>
          <a:xfrm>
            <a:off x="365760" y="1280160"/>
            <a:ext cx="2377440" cy="3657600"/>
          </a:xfrm>
          <a:prstGeom prst="rect">
            <a:avLst/>
          </a:prstGeom>
          <a:solidFill>
            <a:srgbClr val="1B5E20"/>
          </a:solidFill>
          <a:ln w="12700">
            <a:solidFill>
              <a:srgbClr val="FFFFFF"/>
            </a:solidFill>
            <a:prstDash val="solid"/>
          </a:ln>
          <a:effectLst>
            <a:outerShdw sx="100000" sy="100000" kx="0" ky="0" algn="bl" rotWithShape="0" blurRad="76200" dist="38100" dir="2700000">
              <a:srgbClr val="00000033">
                <a:alpha val="75000"/>
              </a:srgbClr>
            </a:outerShdw>
          </a:effectLst>
        </p:spPr>
      </p:sp>
      <p:sp>
        <p:nvSpPr>
          <p:cNvPr id="7" name="Text 5"/>
          <p:cNvSpPr/>
          <p:nvPr/>
        </p:nvSpPr>
        <p:spPr>
          <a:xfrm>
            <a:off x="365760" y="1463040"/>
            <a:ext cx="2377440" cy="640080"/>
          </a:xfrm>
          <a:prstGeom prst="rect">
            <a:avLst/>
          </a:prstGeom>
          <a:noFill/>
          <a:ln/>
        </p:spPr>
        <p:txBody>
          <a:bodyPr wrap="square" rtlCol="0" anchor="ctr"/>
          <a:lstStyle/>
          <a:p>
            <a:pPr algn="ctr" indent="0" marL="0">
              <a:buNone/>
            </a:pPr>
            <a:r>
              <a:rPr lang="en-US" sz="2800" b="1" dirty="0">
                <a:solidFill>
                  <a:srgbClr val="4CAF50"/>
                </a:solidFill>
                <a:latin typeface="Calibri" pitchFamily="34" charset="0"/>
                <a:ea typeface="Calibri" pitchFamily="34" charset="-122"/>
                <a:cs typeface="Calibri" pitchFamily="34" charset="-120"/>
              </a:rPr>
              <a:t>01</a:t>
            </a:r>
            <a:endParaRPr lang="en-US" sz="2800" dirty="0"/>
          </a:p>
        </p:txBody>
      </p:sp>
      <p:sp>
        <p:nvSpPr>
          <p:cNvPr id="8" name="Text 6"/>
          <p:cNvSpPr/>
          <p:nvPr/>
        </p:nvSpPr>
        <p:spPr>
          <a:xfrm>
            <a:off x="365760" y="2194560"/>
            <a:ext cx="23774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 Retrieval</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Recuperación</a:t>
            </a:r>
            <a:endParaRPr lang="en-US" sz="1400" dirty="0"/>
          </a:p>
        </p:txBody>
      </p:sp>
      <p:sp>
        <p:nvSpPr>
          <p:cNvPr id="9" name="Text 7"/>
          <p:cNvSpPr/>
          <p:nvPr/>
        </p:nvSpPr>
        <p:spPr>
          <a:xfrm>
            <a:off x="457200" y="2926080"/>
            <a:ext cx="2194560" cy="1828800"/>
          </a:xfrm>
          <a:prstGeom prst="rect">
            <a:avLst/>
          </a:prstGeom>
          <a:noFill/>
          <a:ln/>
        </p:spPr>
        <p:txBody>
          <a:bodyPr wrap="square" rtlCol="0" anchor="ctr"/>
          <a:lstStyle/>
          <a:p>
            <a:pPr algn="ctr" indent="0" marL="0">
              <a:buNone/>
            </a:pPr>
            <a:r>
              <a:rPr lang="en-US" sz="1100" dirty="0">
                <a:solidFill>
                  <a:srgbClr val="E8F5E9"/>
                </a:solidFill>
                <a:latin typeface="Calibri" pitchFamily="34" charset="0"/>
                <a:ea typeface="Calibri" pitchFamily="34" charset="-122"/>
                <a:cs typeface="Calibri" pitchFamily="34" charset="-120"/>
              </a:rPr>
              <a:t>El usuario hace una pregunta. DistilBERT la convierte en vectores y busca en PostgreSQL los fragmentos más relevantes de los Excels.</a:t>
            </a:r>
            <a:endParaRPr lang="en-US" sz="1100" dirty="0"/>
          </a:p>
        </p:txBody>
      </p:sp>
      <p:sp>
        <p:nvSpPr>
          <p:cNvPr id="10" name="Text 8"/>
          <p:cNvSpPr/>
          <p:nvPr/>
        </p:nvSpPr>
        <p:spPr>
          <a:xfrm>
            <a:off x="2651760" y="2834640"/>
            <a:ext cx="365760" cy="548640"/>
          </a:xfrm>
          <a:prstGeom prst="rect">
            <a:avLst/>
          </a:prstGeom>
          <a:noFill/>
          <a:ln/>
        </p:spPr>
        <p:txBody>
          <a:bodyPr wrap="square" rtlCol="0" anchor="ctr"/>
          <a:lstStyle/>
          <a:p>
            <a:pPr algn="ctr" indent="0" marL="0">
              <a:buNone/>
            </a:pPr>
            <a:r>
              <a:rPr lang="en-US" sz="1800" dirty="0">
                <a:solidFill>
                  <a:srgbClr val="888888"/>
                </a:solidFill>
              </a:rPr>
              <a:t>▶</a:t>
            </a:r>
            <a:endParaRPr lang="en-US" sz="1800" dirty="0"/>
          </a:p>
        </p:txBody>
      </p:sp>
      <p:sp>
        <p:nvSpPr>
          <p:cNvPr id="11" name="Shape 9"/>
          <p:cNvSpPr/>
          <p:nvPr/>
        </p:nvSpPr>
        <p:spPr>
          <a:xfrm>
            <a:off x="3017520" y="1280160"/>
            <a:ext cx="2377440" cy="3657600"/>
          </a:xfrm>
          <a:prstGeom prst="rect">
            <a:avLst/>
          </a:prstGeom>
          <a:solidFill>
            <a:srgbClr val="4CAF50"/>
          </a:solidFill>
          <a:ln w="12700">
            <a:solidFill>
              <a:srgbClr val="FFFFFF"/>
            </a:solidFill>
            <a:prstDash val="solid"/>
          </a:ln>
          <a:effectLst>
            <a:outerShdw sx="100000" sy="100000" kx="0" ky="0" algn="bl" rotWithShape="0" blurRad="76200" dist="38100" dir="2700000">
              <a:srgbClr val="00000033">
                <a:alpha val="75000"/>
              </a:srgbClr>
            </a:outerShdw>
          </a:effectLst>
        </p:spPr>
      </p:sp>
      <p:sp>
        <p:nvSpPr>
          <p:cNvPr id="12" name="Text 10"/>
          <p:cNvSpPr/>
          <p:nvPr/>
        </p:nvSpPr>
        <p:spPr>
          <a:xfrm>
            <a:off x="3017520" y="1463040"/>
            <a:ext cx="2377440" cy="640080"/>
          </a:xfrm>
          <a:prstGeom prst="rect">
            <a:avLst/>
          </a:prstGeom>
          <a:noFill/>
          <a:ln/>
        </p:spPr>
        <p:txBody>
          <a:bodyPr wrap="square" rtlCol="0" anchor="ctr"/>
          <a:lstStyle/>
          <a:p>
            <a:pPr algn="ctr" indent="0" marL="0">
              <a:buNone/>
            </a:pPr>
            <a:r>
              <a:rPr lang="en-US" sz="2800" b="1" dirty="0">
                <a:solidFill>
                  <a:srgbClr val="1B5E20"/>
                </a:solidFill>
                <a:latin typeface="Calibri" pitchFamily="34" charset="0"/>
                <a:ea typeface="Calibri" pitchFamily="34" charset="-122"/>
                <a:cs typeface="Calibri" pitchFamily="34" charset="-120"/>
              </a:rPr>
              <a:t>02</a:t>
            </a:r>
            <a:endParaRPr lang="en-US" sz="2800" dirty="0"/>
          </a:p>
        </p:txBody>
      </p:sp>
      <p:sp>
        <p:nvSpPr>
          <p:cNvPr id="13" name="Text 11"/>
          <p:cNvSpPr/>
          <p:nvPr/>
        </p:nvSpPr>
        <p:spPr>
          <a:xfrm>
            <a:off x="3017520" y="2194560"/>
            <a:ext cx="23774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Augmented</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Aumentada</a:t>
            </a:r>
            <a:endParaRPr lang="en-US" sz="1400" dirty="0"/>
          </a:p>
        </p:txBody>
      </p:sp>
      <p:sp>
        <p:nvSpPr>
          <p:cNvPr id="14" name="Text 12"/>
          <p:cNvSpPr/>
          <p:nvPr/>
        </p:nvSpPr>
        <p:spPr>
          <a:xfrm>
            <a:off x="3108960" y="2926080"/>
            <a:ext cx="2194560" cy="1828800"/>
          </a:xfrm>
          <a:prstGeom prst="rect">
            <a:avLst/>
          </a:prstGeom>
          <a:noFill/>
          <a:ln/>
        </p:spPr>
        <p:txBody>
          <a:bodyPr wrap="square" rtlCol="0" anchor="ctr"/>
          <a:lstStyle/>
          <a:p>
            <a:pPr algn="ctr" indent="0" marL="0">
              <a:buNone/>
            </a:pPr>
            <a:r>
              <a:rPr lang="en-US" sz="1100" dirty="0">
                <a:solidFill>
                  <a:srgbClr val="1B5E20"/>
                </a:solidFill>
                <a:latin typeface="Calibri" pitchFamily="34" charset="0"/>
                <a:ea typeface="Calibri" pitchFamily="34" charset="-122"/>
                <a:cs typeface="Calibri" pitchFamily="34" charset="-120"/>
              </a:rPr>
              <a:t>Los fragmentos recuperados se inyectan invisiblemente en el prompt que se le envía al modelo de lenguaje.</a:t>
            </a:r>
            <a:endParaRPr lang="en-US" sz="1100" dirty="0"/>
          </a:p>
        </p:txBody>
      </p:sp>
      <p:sp>
        <p:nvSpPr>
          <p:cNvPr id="15" name="Text 13"/>
          <p:cNvSpPr/>
          <p:nvPr/>
        </p:nvSpPr>
        <p:spPr>
          <a:xfrm>
            <a:off x="5303520" y="2834640"/>
            <a:ext cx="365760" cy="548640"/>
          </a:xfrm>
          <a:prstGeom prst="rect">
            <a:avLst/>
          </a:prstGeom>
          <a:noFill/>
          <a:ln/>
        </p:spPr>
        <p:txBody>
          <a:bodyPr wrap="square" rtlCol="0" anchor="ctr"/>
          <a:lstStyle/>
          <a:p>
            <a:pPr algn="ctr" indent="0" marL="0">
              <a:buNone/>
            </a:pPr>
            <a:r>
              <a:rPr lang="en-US" sz="1800" dirty="0">
                <a:solidFill>
                  <a:srgbClr val="888888"/>
                </a:solidFill>
              </a:rPr>
              <a:t>▶</a:t>
            </a:r>
            <a:endParaRPr lang="en-US" sz="1800" dirty="0"/>
          </a:p>
        </p:txBody>
      </p:sp>
      <p:sp>
        <p:nvSpPr>
          <p:cNvPr id="16" name="Shape 14"/>
          <p:cNvSpPr/>
          <p:nvPr/>
        </p:nvSpPr>
        <p:spPr>
          <a:xfrm>
            <a:off x="5669280" y="1280160"/>
            <a:ext cx="2377440" cy="3657600"/>
          </a:xfrm>
          <a:prstGeom prst="rect">
            <a:avLst/>
          </a:prstGeom>
          <a:solidFill>
            <a:srgbClr val="1B5E20"/>
          </a:solidFill>
          <a:ln w="12700">
            <a:solidFill>
              <a:srgbClr val="FFFFFF"/>
            </a:solidFill>
            <a:prstDash val="solid"/>
          </a:ln>
          <a:effectLst>
            <a:outerShdw sx="100000" sy="100000" kx="0" ky="0" algn="bl" rotWithShape="0" blurRad="76200" dist="38100" dir="2700000">
              <a:srgbClr val="00000033">
                <a:alpha val="75000"/>
              </a:srgbClr>
            </a:outerShdw>
          </a:effectLst>
        </p:spPr>
      </p:sp>
      <p:sp>
        <p:nvSpPr>
          <p:cNvPr id="17" name="Text 15"/>
          <p:cNvSpPr/>
          <p:nvPr/>
        </p:nvSpPr>
        <p:spPr>
          <a:xfrm>
            <a:off x="5669280" y="1463040"/>
            <a:ext cx="2377440" cy="640080"/>
          </a:xfrm>
          <a:prstGeom prst="rect">
            <a:avLst/>
          </a:prstGeom>
          <a:noFill/>
          <a:ln/>
        </p:spPr>
        <p:txBody>
          <a:bodyPr wrap="square" rtlCol="0" anchor="ctr"/>
          <a:lstStyle/>
          <a:p>
            <a:pPr algn="ctr" indent="0" marL="0">
              <a:buNone/>
            </a:pPr>
            <a:r>
              <a:rPr lang="en-US" sz="2800" b="1" dirty="0">
                <a:solidFill>
                  <a:srgbClr val="4CAF50"/>
                </a:solidFill>
                <a:latin typeface="Calibri" pitchFamily="34" charset="0"/>
                <a:ea typeface="Calibri" pitchFamily="34" charset="-122"/>
                <a:cs typeface="Calibri" pitchFamily="34" charset="-120"/>
              </a:rPr>
              <a:t>03</a:t>
            </a:r>
            <a:endParaRPr lang="en-US" sz="2800" dirty="0"/>
          </a:p>
        </p:txBody>
      </p:sp>
      <p:sp>
        <p:nvSpPr>
          <p:cNvPr id="18" name="Text 16"/>
          <p:cNvSpPr/>
          <p:nvPr/>
        </p:nvSpPr>
        <p:spPr>
          <a:xfrm>
            <a:off x="5669280" y="2194560"/>
            <a:ext cx="23774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 Generation</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Generación</a:t>
            </a:r>
            <a:endParaRPr lang="en-US" sz="1400" dirty="0"/>
          </a:p>
        </p:txBody>
      </p:sp>
      <p:sp>
        <p:nvSpPr>
          <p:cNvPr id="19" name="Text 17"/>
          <p:cNvSpPr/>
          <p:nvPr/>
        </p:nvSpPr>
        <p:spPr>
          <a:xfrm>
            <a:off x="5760720" y="2926080"/>
            <a:ext cx="2194560" cy="1828800"/>
          </a:xfrm>
          <a:prstGeom prst="rect">
            <a:avLst/>
          </a:prstGeom>
          <a:noFill/>
          <a:ln/>
        </p:spPr>
        <p:txBody>
          <a:bodyPr wrap="square" rtlCol="0" anchor="ctr"/>
          <a:lstStyle/>
          <a:p>
            <a:pPr algn="ctr" indent="0" marL="0">
              <a:buNone/>
            </a:pPr>
            <a:r>
              <a:rPr lang="en-US" sz="1100" dirty="0">
                <a:solidFill>
                  <a:srgbClr val="E8F5E9"/>
                </a:solidFill>
                <a:latin typeface="Calibri" pitchFamily="34" charset="0"/>
                <a:ea typeface="Calibri" pitchFamily="34" charset="-122"/>
                <a:cs typeface="Calibri" pitchFamily="34" charset="-120"/>
              </a:rPr>
              <a:t>El modelo (Qwen / Llama) lee el contexto y genera una respuesta natural, técnica y precisa basada en los documentos reales.</a:t>
            </a:r>
            <a:endParaRPr lang="en-US" sz="1100" dirty="0"/>
          </a:p>
        </p:txBody>
      </p:sp>
      <p:sp>
        <p:nvSpPr>
          <p:cNvPr id="20" name="Text 18"/>
          <p:cNvSpPr/>
          <p:nvPr/>
        </p:nvSpPr>
        <p:spPr>
          <a:xfrm>
            <a:off x="7955280" y="2834640"/>
            <a:ext cx="365760" cy="548640"/>
          </a:xfrm>
          <a:prstGeom prst="rect">
            <a:avLst/>
          </a:prstGeom>
          <a:noFill/>
          <a:ln/>
        </p:spPr>
        <p:txBody>
          <a:bodyPr wrap="square" rtlCol="0" anchor="ctr"/>
          <a:lstStyle/>
          <a:p>
            <a:pPr algn="ctr" indent="0" marL="0">
              <a:buNone/>
            </a:pPr>
            <a:r>
              <a:rPr lang="en-US" sz="1800" dirty="0">
                <a:solidFill>
                  <a:srgbClr val="888888"/>
                </a:solidFill>
              </a:rPr>
              <a:t>▶</a:t>
            </a:r>
            <a:endParaRPr lang="en-US" sz="1800" dirty="0"/>
          </a:p>
        </p:txBody>
      </p:sp>
      <p:sp>
        <p:nvSpPr>
          <p:cNvPr id="21" name="Shape 19"/>
          <p:cNvSpPr/>
          <p:nvPr/>
        </p:nvSpPr>
        <p:spPr>
          <a:xfrm>
            <a:off x="8321040" y="1280160"/>
            <a:ext cx="2377440" cy="3657600"/>
          </a:xfrm>
          <a:prstGeom prst="rect">
            <a:avLst/>
          </a:prstGeom>
          <a:solidFill>
            <a:srgbClr val="4CAF50"/>
          </a:solidFill>
          <a:ln w="12700">
            <a:solidFill>
              <a:srgbClr val="FFFFFF"/>
            </a:solidFill>
            <a:prstDash val="solid"/>
          </a:ln>
          <a:effectLst>
            <a:outerShdw sx="100000" sy="100000" kx="0" ky="0" algn="bl" rotWithShape="0" blurRad="76200" dist="38100" dir="2700000">
              <a:srgbClr val="00000033">
                <a:alpha val="75000"/>
              </a:srgbClr>
            </a:outerShdw>
          </a:effectLst>
        </p:spPr>
      </p:sp>
      <p:sp>
        <p:nvSpPr>
          <p:cNvPr id="22" name="Text 20"/>
          <p:cNvSpPr/>
          <p:nvPr/>
        </p:nvSpPr>
        <p:spPr>
          <a:xfrm>
            <a:off x="8321040" y="1463040"/>
            <a:ext cx="2377440" cy="640080"/>
          </a:xfrm>
          <a:prstGeom prst="rect">
            <a:avLst/>
          </a:prstGeom>
          <a:noFill/>
          <a:ln/>
        </p:spPr>
        <p:txBody>
          <a:bodyPr wrap="square" rtlCol="0" anchor="ctr"/>
          <a:lstStyle/>
          <a:p>
            <a:pPr algn="ctr" indent="0" marL="0">
              <a:buNone/>
            </a:pPr>
            <a:r>
              <a:rPr lang="en-US" sz="2800" b="1" dirty="0">
                <a:solidFill>
                  <a:srgbClr val="1B5E20"/>
                </a:solidFill>
                <a:latin typeface="Calibri" pitchFamily="34" charset="0"/>
                <a:ea typeface="Calibri" pitchFamily="34" charset="-122"/>
                <a:cs typeface="Calibri" pitchFamily="34" charset="-120"/>
              </a:rPr>
              <a:t>04</a:t>
            </a:r>
            <a:endParaRPr lang="en-US" sz="2800" dirty="0"/>
          </a:p>
        </p:txBody>
      </p:sp>
      <p:sp>
        <p:nvSpPr>
          <p:cNvPr id="23" name="Text 21"/>
          <p:cNvSpPr/>
          <p:nvPr/>
        </p:nvSpPr>
        <p:spPr>
          <a:xfrm>
            <a:off x="8321040" y="2194560"/>
            <a:ext cx="23774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Resultado</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Sin Alucinaciones</a:t>
            </a:r>
            <a:endParaRPr lang="en-US" sz="1400" dirty="0"/>
          </a:p>
        </p:txBody>
      </p:sp>
      <p:sp>
        <p:nvSpPr>
          <p:cNvPr id="24" name="Text 22"/>
          <p:cNvSpPr/>
          <p:nvPr/>
        </p:nvSpPr>
        <p:spPr>
          <a:xfrm>
            <a:off x="8412480" y="2926080"/>
            <a:ext cx="2194560" cy="1828800"/>
          </a:xfrm>
          <a:prstGeom prst="rect">
            <a:avLst/>
          </a:prstGeom>
          <a:noFill/>
          <a:ln/>
        </p:spPr>
        <p:txBody>
          <a:bodyPr wrap="square" rtlCol="0" anchor="ctr"/>
          <a:lstStyle/>
          <a:p>
            <a:pPr algn="ctr" indent="0" marL="0">
              <a:buNone/>
            </a:pPr>
            <a:r>
              <a:rPr lang="en-US" sz="1100" dirty="0">
                <a:solidFill>
                  <a:srgbClr val="1B5E20"/>
                </a:solidFill>
                <a:latin typeface="Calibri" pitchFamily="34" charset="0"/>
                <a:ea typeface="Calibri" pitchFamily="34" charset="-122"/>
                <a:cs typeface="Calibri" pitchFamily="34" charset="-120"/>
              </a:rPr>
              <a:t>La IA no inventa datos. Responde SOLO con información de tus calendarios de fertilización validados.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1F8E9"/>
          </a:solidFill>
          <a:ln/>
        </p:spPr>
      </p:sp>
      <p:sp>
        <p:nvSpPr>
          <p:cNvPr id="3" name="Shape 1"/>
          <p:cNvSpPr/>
          <p:nvPr/>
        </p:nvSpPr>
        <p:spPr>
          <a:xfrm>
            <a:off x="0" y="0"/>
            <a:ext cx="137160" cy="6858000"/>
          </a:xfrm>
          <a:prstGeom prst="rect">
            <a:avLst/>
          </a:prstGeom>
          <a:solidFill>
            <a:srgbClr val="1B5E20"/>
          </a:solidFill>
          <a:ln/>
        </p:spPr>
      </p:sp>
      <p:sp>
        <p:nvSpPr>
          <p:cNvPr id="4" name="Shape 2"/>
          <p:cNvSpPr/>
          <p:nvPr/>
        </p:nvSpPr>
        <p:spPr>
          <a:xfrm>
            <a:off x="0" y="2834640"/>
            <a:ext cx="12192000" cy="73152"/>
          </a:xfrm>
          <a:prstGeom prst="rect">
            <a:avLst/>
          </a:prstGeom>
          <a:solidFill>
            <a:srgbClr val="4CAF50"/>
          </a:solidFill>
          <a:ln/>
        </p:spPr>
      </p:sp>
      <p:sp>
        <p:nvSpPr>
          <p:cNvPr id="5" name="Text 3"/>
          <p:cNvSpPr/>
          <p:nvPr/>
        </p:nvSpPr>
        <p:spPr>
          <a:xfrm>
            <a:off x="457200" y="2286000"/>
            <a:ext cx="10972800" cy="1097280"/>
          </a:xfrm>
          <a:prstGeom prst="rect">
            <a:avLst/>
          </a:prstGeom>
          <a:noFill/>
          <a:ln/>
        </p:spPr>
        <p:txBody>
          <a:bodyPr wrap="square" rtlCol="0" anchor="ctr"/>
          <a:lstStyle/>
          <a:p>
            <a:pPr algn="ctr" indent="0" marL="0">
              <a:buNone/>
            </a:pPr>
            <a:r>
              <a:rPr lang="en-US" sz="3200" b="1" dirty="0">
                <a:solidFill>
                  <a:srgbClr val="1B5E20"/>
                </a:solidFill>
                <a:latin typeface="Calibri" pitchFamily="34" charset="0"/>
                <a:ea typeface="Calibri" pitchFamily="34" charset="-122"/>
                <a:cs typeface="Calibri" pitchFamily="34" charset="-120"/>
              </a:rPr>
              <a:t>PARTE 2: Demostración del Prototipo</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1005840"/>
          </a:xfrm>
          <a:prstGeom prst="rect">
            <a:avLst/>
          </a:prstGeom>
          <a:solidFill>
            <a:srgbClr val="1B5E20"/>
          </a:solidFill>
          <a:ln/>
        </p:spPr>
      </p:sp>
      <p:sp>
        <p:nvSpPr>
          <p:cNvPr id="4" name="Shape 2"/>
          <p:cNvSpPr/>
          <p:nvPr/>
        </p:nvSpPr>
        <p:spPr>
          <a:xfrm>
            <a:off x="0" y="6492240"/>
            <a:ext cx="12192000" cy="365760"/>
          </a:xfrm>
          <a:prstGeom prst="rect">
            <a:avLst/>
          </a:prstGeom>
          <a:solidFill>
            <a:srgbClr val="4CAF50"/>
          </a:solidFill>
          <a:ln/>
        </p:spPr>
      </p:sp>
      <p:sp>
        <p:nvSpPr>
          <p:cNvPr id="5" name="Shape 3"/>
          <p:cNvSpPr/>
          <p:nvPr/>
        </p:nvSpPr>
        <p:spPr>
          <a:xfrm>
            <a:off x="0" y="1005840"/>
            <a:ext cx="109728" cy="5486400"/>
          </a:xfrm>
          <a:prstGeom prst="rect">
            <a:avLst/>
          </a:prstGeom>
          <a:solidFill>
            <a:srgbClr val="4CAF50"/>
          </a:solidFill>
          <a:ln/>
        </p:spPr>
      </p:sp>
      <p:sp>
        <p:nvSpPr>
          <p:cNvPr id="6" name="Text 4"/>
          <p:cNvSpPr/>
          <p:nvPr/>
        </p:nvSpPr>
        <p:spPr>
          <a:xfrm>
            <a:off x="274320" y="109728"/>
            <a:ext cx="1161288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Diapositiva 4 — Autenticación Segura (Google OAuth)</a:t>
            </a:r>
            <a:endParaRPr lang="en-US" sz="2200" dirty="0"/>
          </a:p>
        </p:txBody>
      </p:sp>
      <p:sp>
        <p:nvSpPr>
          <p:cNvPr id="7" name="Text 5"/>
          <p:cNvSpPr/>
          <p:nvPr/>
        </p:nvSpPr>
        <p:spPr>
          <a:xfrm>
            <a:off x="365760" y="1143000"/>
            <a:ext cx="11521440" cy="5212080"/>
          </a:xfrm>
          <a:prstGeom prst="rect">
            <a:avLst/>
          </a:prstGeom>
          <a:noFill/>
          <a:ln/>
        </p:spPr>
        <p:txBody>
          <a:bodyPr wrap="square" rtlCol="0" anchor="t"/>
          <a:lstStyle/>
          <a:p>
            <a:pPr>
              <a:spcAft>
                <a:spcPts val="600"/>
              </a:spcAft>
            </a:pPr>
            <a:r>
              <a:rPr lang="en-US" sz="1500" dirty="0">
                <a:solidFill>
                  <a:srgbClr val="1A1A2E"/>
                </a:solidFill>
                <a:latin typeface="Calibri" pitchFamily="34" charset="0"/>
                <a:ea typeface="Calibri" pitchFamily="34" charset="-122"/>
                <a:cs typeface="Calibri" pitchFamily="34" charset="-120"/>
              </a:rPr>
              <a:t>📸 [CAPTURA: Pantalla de inicio de sesión con botón de Google]</a:t>
            </a:r>
            <a:endParaRPr lang="en-US" sz="1500" dirty="0"/>
          </a:p>
          <a:p>
            <a:pPr>
              <a:spcAft>
                <a:spcPts val="600"/>
              </a:spcAft>
            </a:pP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Autenticación mediante Google OAuth 2.0 — Estándar de la industria.</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Cada usuario tiene su propio historial de conversaciones privado.</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Sin registro manual. Sin contraseñas que recordar ni que hackear.</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Compatible con cualquier cuenta de Google (PC, tablet, móvil).</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1005840"/>
          </a:xfrm>
          <a:prstGeom prst="rect">
            <a:avLst/>
          </a:prstGeom>
          <a:solidFill>
            <a:srgbClr val="1B5E20"/>
          </a:solidFill>
          <a:ln/>
        </p:spPr>
      </p:sp>
      <p:sp>
        <p:nvSpPr>
          <p:cNvPr id="4" name="Shape 2"/>
          <p:cNvSpPr/>
          <p:nvPr/>
        </p:nvSpPr>
        <p:spPr>
          <a:xfrm>
            <a:off x="0" y="6492240"/>
            <a:ext cx="12192000" cy="365760"/>
          </a:xfrm>
          <a:prstGeom prst="rect">
            <a:avLst/>
          </a:prstGeom>
          <a:solidFill>
            <a:srgbClr val="4CAF50"/>
          </a:solidFill>
          <a:ln/>
        </p:spPr>
      </p:sp>
      <p:sp>
        <p:nvSpPr>
          <p:cNvPr id="5" name="Shape 3"/>
          <p:cNvSpPr/>
          <p:nvPr/>
        </p:nvSpPr>
        <p:spPr>
          <a:xfrm>
            <a:off x="0" y="1005840"/>
            <a:ext cx="109728" cy="5486400"/>
          </a:xfrm>
          <a:prstGeom prst="rect">
            <a:avLst/>
          </a:prstGeom>
          <a:solidFill>
            <a:srgbClr val="4CAF50"/>
          </a:solidFill>
          <a:ln/>
        </p:spPr>
      </p:sp>
      <p:sp>
        <p:nvSpPr>
          <p:cNvPr id="6" name="Text 4"/>
          <p:cNvSpPr/>
          <p:nvPr/>
        </p:nvSpPr>
        <p:spPr>
          <a:xfrm>
            <a:off x="274320" y="109728"/>
            <a:ext cx="1161288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Diapositiva 5 — Interfaz de Chat (UX/UI) y Demo en Vivo</a:t>
            </a:r>
            <a:endParaRPr lang="en-US" sz="2200" dirty="0"/>
          </a:p>
        </p:txBody>
      </p:sp>
      <p:sp>
        <p:nvSpPr>
          <p:cNvPr id="7" name="Text 5"/>
          <p:cNvSpPr/>
          <p:nvPr/>
        </p:nvSpPr>
        <p:spPr>
          <a:xfrm>
            <a:off x="365760" y="1143000"/>
            <a:ext cx="11521440" cy="5212080"/>
          </a:xfrm>
          <a:prstGeom prst="rect">
            <a:avLst/>
          </a:prstGeom>
          <a:noFill/>
          <a:ln/>
        </p:spPr>
        <p:txBody>
          <a:bodyPr wrap="square" rtlCol="0" anchor="t"/>
          <a:lstStyle/>
          <a:p>
            <a:pPr>
              <a:spcAft>
                <a:spcPts val="600"/>
              </a:spcAft>
            </a:pPr>
            <a:r>
              <a:rPr lang="en-US" sz="1500" dirty="0">
                <a:solidFill>
                  <a:srgbClr val="1A1A2E"/>
                </a:solidFill>
                <a:latin typeface="Calibri" pitchFamily="34" charset="0"/>
                <a:ea typeface="Calibri" pitchFamily="34" charset="-122"/>
                <a:cs typeface="Calibri" pitchFamily="34" charset="-120"/>
              </a:rPr>
              <a:t>📸 [CAPTURA: Interfaz principal del chat con una pregunta agrícola activa]</a:t>
            </a:r>
            <a:endParaRPr lang="en-US" sz="1500" dirty="0"/>
          </a:p>
          <a:p>
            <a:pPr>
              <a:spcAft>
                <a:spcPts val="600"/>
              </a:spcAft>
            </a:pP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Indicador "Consultando base de datos agrícola..." — Muestra que el RAG está activo.</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Botón de STOP — Permite cancelar la generación (usando AbortController).</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Botón de Copiar — El usuario puede copiar la respuesta con un clic.</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Auto-scroll — Baja automáticamente al final de la respuesta.</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Renombrar chats — El agricultor puede organizar sus sesiones.</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Eliminar historial — Control total sobre sus datos.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1005840"/>
          </a:xfrm>
          <a:prstGeom prst="rect">
            <a:avLst/>
          </a:prstGeom>
          <a:solidFill>
            <a:srgbClr val="1B5E20"/>
          </a:solidFill>
          <a:ln/>
        </p:spPr>
      </p:sp>
      <p:sp>
        <p:nvSpPr>
          <p:cNvPr id="4" name="Shape 2"/>
          <p:cNvSpPr/>
          <p:nvPr/>
        </p:nvSpPr>
        <p:spPr>
          <a:xfrm>
            <a:off x="0" y="6492240"/>
            <a:ext cx="12192000" cy="365760"/>
          </a:xfrm>
          <a:prstGeom prst="rect">
            <a:avLst/>
          </a:prstGeom>
          <a:solidFill>
            <a:srgbClr val="4CAF50"/>
          </a:solidFill>
          <a:ln/>
        </p:spPr>
      </p:sp>
      <p:sp>
        <p:nvSpPr>
          <p:cNvPr id="5" name="Shape 3"/>
          <p:cNvSpPr/>
          <p:nvPr/>
        </p:nvSpPr>
        <p:spPr>
          <a:xfrm>
            <a:off x="0" y="1005840"/>
            <a:ext cx="109728" cy="5486400"/>
          </a:xfrm>
          <a:prstGeom prst="rect">
            <a:avLst/>
          </a:prstGeom>
          <a:solidFill>
            <a:srgbClr val="4CAF50"/>
          </a:solidFill>
          <a:ln/>
        </p:spPr>
      </p:sp>
      <p:sp>
        <p:nvSpPr>
          <p:cNvPr id="6" name="Text 4"/>
          <p:cNvSpPr/>
          <p:nvPr/>
        </p:nvSpPr>
        <p:spPr>
          <a:xfrm>
            <a:off x="274320" y="109728"/>
            <a:ext cx="1161288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Diapositiva 6 — Protocolo de Seguridad: "El Muro" (Sección 3.4.7)</a:t>
            </a:r>
            <a:endParaRPr lang="en-US" sz="2200" dirty="0"/>
          </a:p>
        </p:txBody>
      </p:sp>
      <p:sp>
        <p:nvSpPr>
          <p:cNvPr id="7" name="Text 5"/>
          <p:cNvSpPr/>
          <p:nvPr/>
        </p:nvSpPr>
        <p:spPr>
          <a:xfrm>
            <a:off x="365760" y="1143000"/>
            <a:ext cx="11521440" cy="5212080"/>
          </a:xfrm>
          <a:prstGeom prst="rect">
            <a:avLst/>
          </a:prstGeom>
          <a:noFill/>
          <a:ln/>
        </p:spPr>
        <p:txBody>
          <a:bodyPr wrap="square" rtlCol="0" anchor="t"/>
          <a:lstStyle/>
          <a:p>
            <a:pPr>
              <a:spcAft>
                <a:spcPts val="600"/>
              </a:spcAft>
            </a:pPr>
            <a:r>
              <a:rPr lang="en-US" sz="1500" dirty="0">
                <a:solidFill>
                  <a:srgbClr val="1A1A2E"/>
                </a:solidFill>
                <a:latin typeface="Calibri" pitchFamily="34" charset="0"/>
                <a:ea typeface="Calibri" pitchFamily="34" charset="-122"/>
                <a:cs typeface="Calibri" pitchFamily="34" charset="-120"/>
              </a:rPr>
              <a:t>📸 [CAPTURA: El bot rechazando una pregunta sobre fútbol o películas]</a:t>
            </a:r>
            <a:endParaRPr lang="en-US" sz="1500" dirty="0"/>
          </a:p>
          <a:p>
            <a:pPr>
              <a:spcAft>
                <a:spcPts val="600"/>
              </a:spcAft>
            </a:pP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El sistema detecta preguntas fuera del dominio agrícola.</a:t>
            </a:r>
            <a:endParaRPr lang="en-US" sz="1500" dirty="0"/>
          </a:p>
          <a:p>
            <a:pPr>
              <a:spcAft>
                <a:spcPts val="600"/>
              </a:spcAft>
            </a:pP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Preguntas permitidas:</a:t>
            </a:r>
            <a:endParaRPr lang="en-US" sz="1500" dirty="0"/>
          </a:p>
          <a:p>
            <a:pPr>
              <a:spcAft>
                <a:spcPts val="400"/>
              </a:spcAft>
            </a:pPr>
            <a:r>
              <a:rPr lang="en-US" sz="1300" dirty="0">
                <a:solidFill>
                  <a:srgbClr val="444444"/>
                </a:solidFill>
                <a:latin typeface="Calibri" pitchFamily="34" charset="0"/>
                <a:ea typeface="Calibri" pitchFamily="34" charset="-122"/>
                <a:cs typeface="Calibri" pitchFamily="34" charset="-120"/>
              </a:rPr>
              <a:t>"¿Cuándo fertilizo el maíz en Sonsonate?" — Responde con datos de los Excels.</a:t>
            </a:r>
            <a:endParaRPr lang="en-US" sz="1500" dirty="0"/>
          </a:p>
          <a:p>
            <a:pPr>
              <a:spcAft>
                <a:spcPts val="400"/>
              </a:spcAft>
            </a:pPr>
            <a:r>
              <a:rPr lang="en-US" sz="1300" dirty="0">
                <a:solidFill>
                  <a:srgbClr val="444444"/>
                </a:solidFill>
                <a:latin typeface="Calibri" pitchFamily="34" charset="0"/>
                <a:ea typeface="Calibri" pitchFamily="34" charset="-122"/>
                <a:cs typeface="Calibri" pitchFamily="34" charset="-120"/>
              </a:rPr>
              <a:t>"¿Qué dosis de nitrógeno usa el frijol?" — Consulta la base de conocimiento.</a:t>
            </a:r>
            <a:endParaRPr lang="en-US" sz="1500" dirty="0"/>
          </a:p>
          <a:p>
            <a:pPr>
              <a:spcAft>
                <a:spcPts val="600"/>
              </a:spcAft>
            </a:pP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Preguntas bloqueadas:</a:t>
            </a:r>
            <a:endParaRPr lang="en-US" sz="1500" dirty="0"/>
          </a:p>
          <a:p>
            <a:pPr>
              <a:spcAft>
                <a:spcPts val="400"/>
              </a:spcAft>
            </a:pPr>
            <a:r>
              <a:rPr lang="en-US" sz="1300" dirty="0">
                <a:solidFill>
                  <a:srgbClr val="444444"/>
                </a:solidFill>
                <a:latin typeface="Calibri" pitchFamily="34" charset="0"/>
                <a:ea typeface="Calibri" pitchFamily="34" charset="-122"/>
                <a:cs typeface="Calibri" pitchFamily="34" charset="-120"/>
              </a:rPr>
              <a:t>"¿Quién ganó el mundial?" — El sistema responde que no puede ayudar con ese tema.</a:t>
            </a:r>
            <a:endParaRPr lang="en-US" sz="1500" dirty="0"/>
          </a:p>
          <a:p>
            <a:pPr>
              <a:spcAft>
                <a:spcPts val="400"/>
              </a:spcAft>
            </a:pPr>
            <a:r>
              <a:rPr lang="en-US" sz="1300" dirty="0">
                <a:solidFill>
                  <a:srgbClr val="444444"/>
                </a:solidFill>
                <a:latin typeface="Calibri" pitchFamily="34" charset="0"/>
                <a:ea typeface="Calibri" pitchFamily="34" charset="-122"/>
                <a:cs typeface="Calibri" pitchFamily="34" charset="-120"/>
              </a:rPr>
              <a:t>"Escríbeme un poema." — Rechazado. No es parte de su dominio.</a:t>
            </a:r>
            <a:endParaRPr lang="en-US" sz="1500" dirty="0"/>
          </a:p>
          <a:p>
            <a:pPr>
              <a:spcAft>
                <a:spcPts val="600"/>
              </a:spcAft>
            </a:pP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Esto evita el mal uso y garantiza respuestas 100% técnicas y confiables.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1005840"/>
          </a:xfrm>
          <a:prstGeom prst="rect">
            <a:avLst/>
          </a:prstGeom>
          <a:solidFill>
            <a:srgbClr val="1B5E20"/>
          </a:solidFill>
          <a:ln/>
        </p:spPr>
      </p:sp>
      <p:sp>
        <p:nvSpPr>
          <p:cNvPr id="4" name="Shape 2"/>
          <p:cNvSpPr/>
          <p:nvPr/>
        </p:nvSpPr>
        <p:spPr>
          <a:xfrm>
            <a:off x="0" y="6492240"/>
            <a:ext cx="12192000" cy="365760"/>
          </a:xfrm>
          <a:prstGeom prst="rect">
            <a:avLst/>
          </a:prstGeom>
          <a:solidFill>
            <a:srgbClr val="4CAF50"/>
          </a:solidFill>
          <a:ln/>
        </p:spPr>
      </p:sp>
      <p:sp>
        <p:nvSpPr>
          <p:cNvPr id="5" name="Shape 3"/>
          <p:cNvSpPr/>
          <p:nvPr/>
        </p:nvSpPr>
        <p:spPr>
          <a:xfrm>
            <a:off x="0" y="1005840"/>
            <a:ext cx="109728" cy="5486400"/>
          </a:xfrm>
          <a:prstGeom prst="rect">
            <a:avLst/>
          </a:prstGeom>
          <a:solidFill>
            <a:srgbClr val="4CAF50"/>
          </a:solidFill>
          <a:ln/>
        </p:spPr>
      </p:sp>
      <p:sp>
        <p:nvSpPr>
          <p:cNvPr id="6" name="Text 4"/>
          <p:cNvSpPr/>
          <p:nvPr/>
        </p:nvSpPr>
        <p:spPr>
          <a:xfrm>
            <a:off x="274320" y="109728"/>
            <a:ext cx="1161288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Diapositiva 7 — Renderizado Dinámico de Datos (Sección 3.4.6)</a:t>
            </a:r>
            <a:endParaRPr lang="en-US" sz="2200" dirty="0"/>
          </a:p>
        </p:txBody>
      </p:sp>
      <p:sp>
        <p:nvSpPr>
          <p:cNvPr id="7" name="Text 5"/>
          <p:cNvSpPr/>
          <p:nvPr/>
        </p:nvSpPr>
        <p:spPr>
          <a:xfrm>
            <a:off x="365760" y="1143000"/>
            <a:ext cx="11521440" cy="5212080"/>
          </a:xfrm>
          <a:prstGeom prst="rect">
            <a:avLst/>
          </a:prstGeom>
          <a:noFill/>
          <a:ln/>
        </p:spPr>
        <p:txBody>
          <a:bodyPr wrap="square" rtlCol="0" anchor="t"/>
          <a:lstStyle/>
          <a:p>
            <a:pPr>
              <a:spcAft>
                <a:spcPts val="600"/>
              </a:spcAft>
            </a:pPr>
            <a:r>
              <a:rPr lang="en-US" sz="1500" dirty="0">
                <a:solidFill>
                  <a:srgbClr val="1A1A2E"/>
                </a:solidFill>
                <a:latin typeface="Calibri" pitchFamily="34" charset="0"/>
                <a:ea typeface="Calibri" pitchFamily="34" charset="-122"/>
                <a:cs typeface="Calibri" pitchFamily="34" charset="-120"/>
              </a:rPr>
              <a:t>📸 [CAPTURA: Una respuesta del bot con una tabla de fertilizantes renderizada]</a:t>
            </a:r>
            <a:endParaRPr lang="en-US" sz="1500" dirty="0"/>
          </a:p>
          <a:p>
            <a:pPr>
              <a:spcAft>
                <a:spcPts val="600"/>
              </a:spcAft>
            </a:pP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Los calendarios de fertilización son tablas en Excel.</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El sistema los convierte automáticamente a formato Markdown.</a:t>
            </a: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El frontend renderiza el Markdown como tablas HTML nativas y listas.</a:t>
            </a:r>
            <a:endParaRPr lang="en-US" sz="1500" dirty="0"/>
          </a:p>
          <a:p>
            <a:pPr>
              <a:spcAft>
                <a:spcPts val="600"/>
              </a:spcAft>
            </a:pP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También renderiza:</a:t>
            </a:r>
            <a:endParaRPr lang="en-US" sz="1500" dirty="0"/>
          </a:p>
          <a:p>
            <a:pPr>
              <a:spcAft>
                <a:spcPts val="400"/>
              </a:spcAft>
            </a:pPr>
            <a:r>
              <a:rPr lang="en-US" sz="1300" dirty="0">
                <a:solidFill>
                  <a:srgbClr val="444444"/>
                </a:solidFill>
                <a:latin typeface="Calibri" pitchFamily="34" charset="0"/>
                <a:ea typeface="Calibri" pitchFamily="34" charset="-122"/>
                <a:cs typeface="Calibri" pitchFamily="34" charset="-120"/>
              </a:rPr>
              <a:t>Texto en **negrita** para énfasis técnico.</a:t>
            </a:r>
            <a:endParaRPr lang="en-US" sz="1500" dirty="0"/>
          </a:p>
          <a:p>
            <a:pPr>
              <a:spcAft>
                <a:spcPts val="400"/>
              </a:spcAft>
            </a:pPr>
            <a:r>
              <a:rPr lang="en-US" sz="1300" dirty="0">
                <a:solidFill>
                  <a:srgbClr val="444444"/>
                </a:solidFill>
                <a:latin typeface="Calibri" pitchFamily="34" charset="0"/>
                <a:ea typeface="Calibri" pitchFamily="34" charset="-122"/>
                <a:cs typeface="Calibri" pitchFamily="34" charset="-120"/>
              </a:rPr>
              <a:t>Listas numeradas para pasos de aplicación.</a:t>
            </a:r>
            <a:endParaRPr lang="en-US" sz="1500" dirty="0"/>
          </a:p>
          <a:p>
            <a:pPr>
              <a:spcAft>
                <a:spcPts val="400"/>
              </a:spcAft>
            </a:pPr>
            <a:r>
              <a:rPr lang="en-US" sz="1300" dirty="0">
                <a:solidFill>
                  <a:srgbClr val="444444"/>
                </a:solidFill>
                <a:latin typeface="Calibri" pitchFamily="34" charset="0"/>
                <a:ea typeface="Calibri" pitchFamily="34" charset="-122"/>
                <a:cs typeface="Calibri" pitchFamily="34" charset="-120"/>
              </a:rPr>
              <a:t>Bloques de código para fórmulas o datos técnicos.</a:t>
            </a:r>
            <a:endParaRPr lang="en-US" sz="1500" dirty="0"/>
          </a:p>
          <a:p>
            <a:pPr>
              <a:spcAft>
                <a:spcPts val="600"/>
              </a:spcAft>
            </a:pPr>
            <a:endParaRPr lang="en-US" sz="1500" dirty="0"/>
          </a:p>
          <a:p>
            <a:pPr>
              <a:spcAft>
                <a:spcPts val="600"/>
              </a:spcAft>
            </a:pPr>
            <a:r>
              <a:rPr lang="en-US" sz="1500" dirty="0">
                <a:solidFill>
                  <a:srgbClr val="1A1A2E"/>
                </a:solidFill>
                <a:latin typeface="Calibri" pitchFamily="34" charset="0"/>
                <a:ea typeface="Calibri" pitchFamily="34" charset="-122"/>
                <a:cs typeface="Calibri" pitchFamily="34" charset="-120"/>
              </a:rPr>
              <a:t>💡  Resultado: Una respuesta visual, clara y fácil de entender para el agricultor.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1F8E9"/>
          </a:solidFill>
          <a:ln/>
        </p:spPr>
      </p:sp>
      <p:sp>
        <p:nvSpPr>
          <p:cNvPr id="3" name="Shape 1"/>
          <p:cNvSpPr/>
          <p:nvPr/>
        </p:nvSpPr>
        <p:spPr>
          <a:xfrm>
            <a:off x="0" y="0"/>
            <a:ext cx="137160" cy="6858000"/>
          </a:xfrm>
          <a:prstGeom prst="rect">
            <a:avLst/>
          </a:prstGeom>
          <a:solidFill>
            <a:srgbClr val="1B5E20"/>
          </a:solidFill>
          <a:ln/>
        </p:spPr>
      </p:sp>
      <p:sp>
        <p:nvSpPr>
          <p:cNvPr id="4" name="Shape 2"/>
          <p:cNvSpPr/>
          <p:nvPr/>
        </p:nvSpPr>
        <p:spPr>
          <a:xfrm>
            <a:off x="0" y="2834640"/>
            <a:ext cx="12192000" cy="73152"/>
          </a:xfrm>
          <a:prstGeom prst="rect">
            <a:avLst/>
          </a:prstGeom>
          <a:solidFill>
            <a:srgbClr val="4CAF50"/>
          </a:solidFill>
          <a:ln/>
        </p:spPr>
      </p:sp>
      <p:sp>
        <p:nvSpPr>
          <p:cNvPr id="5" name="Text 3"/>
          <p:cNvSpPr/>
          <p:nvPr/>
        </p:nvSpPr>
        <p:spPr>
          <a:xfrm>
            <a:off x="457200" y="2286000"/>
            <a:ext cx="10972800" cy="1097280"/>
          </a:xfrm>
          <a:prstGeom prst="rect">
            <a:avLst/>
          </a:prstGeom>
          <a:noFill/>
          <a:ln/>
        </p:spPr>
        <p:txBody>
          <a:bodyPr wrap="square" rtlCol="0" anchor="ctr"/>
          <a:lstStyle/>
          <a:p>
            <a:pPr algn="ctr" indent="0" marL="0">
              <a:buNone/>
            </a:pPr>
            <a:r>
              <a:rPr lang="en-US" sz="3200" b="1" dirty="0">
                <a:solidFill>
                  <a:srgbClr val="1B5E20"/>
                </a:solidFill>
                <a:latin typeface="Calibri" pitchFamily="34" charset="0"/>
                <a:ea typeface="Calibri" pitchFamily="34" charset="-122"/>
                <a:cs typeface="Calibri" pitchFamily="34" charset="-120"/>
              </a:rPr>
              <a:t>PARTE 3: Factibilidad y Conclusiones</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1005840"/>
          </a:xfrm>
          <a:prstGeom prst="rect">
            <a:avLst/>
          </a:prstGeom>
          <a:solidFill>
            <a:srgbClr val="1B5E20"/>
          </a:solidFill>
          <a:ln/>
        </p:spPr>
      </p:sp>
      <p:sp>
        <p:nvSpPr>
          <p:cNvPr id="4" name="Shape 2"/>
          <p:cNvSpPr/>
          <p:nvPr/>
        </p:nvSpPr>
        <p:spPr>
          <a:xfrm>
            <a:off x="0" y="6492240"/>
            <a:ext cx="12192000" cy="365760"/>
          </a:xfrm>
          <a:prstGeom prst="rect">
            <a:avLst/>
          </a:prstGeom>
          <a:solidFill>
            <a:srgbClr val="4CAF50"/>
          </a:solidFill>
          <a:ln/>
        </p:spPr>
      </p:sp>
      <p:sp>
        <p:nvSpPr>
          <p:cNvPr id="5" name="Text 3"/>
          <p:cNvSpPr/>
          <p:nvPr/>
        </p:nvSpPr>
        <p:spPr>
          <a:xfrm>
            <a:off x="274320" y="109728"/>
            <a:ext cx="1161288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Diapositiva 8 — Análisis de Factibilidad (Sección 3.5)</a:t>
            </a:r>
            <a:endParaRPr lang="en-US" sz="2200" dirty="0"/>
          </a:p>
        </p:txBody>
      </p:sp>
      <p:sp>
        <p:nvSpPr>
          <p:cNvPr id="6" name="Shape 4"/>
          <p:cNvSpPr/>
          <p:nvPr/>
        </p:nvSpPr>
        <p:spPr>
          <a:xfrm>
            <a:off x="274320" y="1097280"/>
            <a:ext cx="5394960" cy="5212080"/>
          </a:xfrm>
          <a:prstGeom prst="rect">
            <a:avLst/>
          </a:prstGeom>
          <a:solidFill>
            <a:srgbClr val="F1F8E9"/>
          </a:solidFill>
          <a:ln w="19050">
            <a:solidFill>
              <a:srgbClr val="4CAF50"/>
            </a:solidFill>
            <a:prstDash val="solid"/>
          </a:ln>
        </p:spPr>
      </p:sp>
      <p:sp>
        <p:nvSpPr>
          <p:cNvPr id="7" name="Shape 5"/>
          <p:cNvSpPr/>
          <p:nvPr/>
        </p:nvSpPr>
        <p:spPr>
          <a:xfrm>
            <a:off x="6309360" y="1097280"/>
            <a:ext cx="5394960" cy="5212080"/>
          </a:xfrm>
          <a:prstGeom prst="rect">
            <a:avLst/>
          </a:prstGeom>
          <a:solidFill>
            <a:srgbClr val="F1F8E9"/>
          </a:solidFill>
          <a:ln w="19050">
            <a:solidFill>
              <a:srgbClr val="1B5E20"/>
            </a:solidFill>
            <a:prstDash val="solid"/>
          </a:ln>
        </p:spPr>
      </p:sp>
      <p:sp>
        <p:nvSpPr>
          <p:cNvPr id="8" name="Text 6"/>
          <p:cNvSpPr/>
          <p:nvPr/>
        </p:nvSpPr>
        <p:spPr>
          <a:xfrm>
            <a:off x="457200" y="1143000"/>
            <a:ext cx="5029200" cy="457200"/>
          </a:xfrm>
          <a:prstGeom prst="rect">
            <a:avLst/>
          </a:prstGeom>
          <a:noFill/>
          <a:ln/>
        </p:spPr>
        <p:txBody>
          <a:bodyPr wrap="square" rtlCol="0" anchor="ctr"/>
          <a:lstStyle/>
          <a:p>
            <a:pPr indent="0" marL="0">
              <a:buNone/>
            </a:pPr>
            <a:r>
              <a:rPr lang="en-US" sz="1400" b="1" dirty="0">
                <a:solidFill>
                  <a:srgbClr val="1B5E20"/>
                </a:solidFill>
                <a:latin typeface="Calibri" pitchFamily="34" charset="0"/>
                <a:ea typeface="Calibri" pitchFamily="34" charset="-122"/>
                <a:cs typeface="Calibri" pitchFamily="34" charset="-120"/>
              </a:rPr>
              <a:t>✅ Factibilidad Técnica</a:t>
            </a:r>
            <a:endParaRPr lang="en-US" sz="1400" dirty="0"/>
          </a:p>
        </p:txBody>
      </p:sp>
      <p:sp>
        <p:nvSpPr>
          <p:cNvPr id="9" name="Text 7"/>
          <p:cNvSpPr/>
          <p:nvPr/>
        </p:nvSpPr>
        <p:spPr>
          <a:xfrm>
            <a:off x="457200" y="1645920"/>
            <a:ext cx="5029200" cy="4572000"/>
          </a:xfrm>
          <a:prstGeom prst="rect">
            <a:avLst/>
          </a:prstGeom>
          <a:noFill/>
          <a:ln/>
        </p:spPr>
        <p:txBody>
          <a:bodyPr wrap="square" rtlCol="0" anchor="t"/>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Stack moderno y maduro (React 18, Node.js, PostgreSQL).</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Modelos de IA ejecutados localmente con Ollama.</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Sin dependencia de APIs de pago (OpenAI, Google AI).</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Docker para despliegue portable y reproducible.</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Funciona con conexión intermitente (edge computing).</a:t>
            </a:r>
            <a:endParaRPr lang="en-US" sz="1300" dirty="0"/>
          </a:p>
        </p:txBody>
      </p:sp>
      <p:sp>
        <p:nvSpPr>
          <p:cNvPr id="10" name="Text 8"/>
          <p:cNvSpPr/>
          <p:nvPr/>
        </p:nvSpPr>
        <p:spPr>
          <a:xfrm>
            <a:off x="6492240" y="1143000"/>
            <a:ext cx="5029200" cy="457200"/>
          </a:xfrm>
          <a:prstGeom prst="rect">
            <a:avLst/>
          </a:prstGeom>
          <a:noFill/>
          <a:ln/>
        </p:spPr>
        <p:txBody>
          <a:bodyPr wrap="square" rtlCol="0" anchor="ctr"/>
          <a:lstStyle/>
          <a:p>
            <a:pPr indent="0" marL="0">
              <a:buNone/>
            </a:pPr>
            <a:r>
              <a:rPr lang="en-US" sz="1400" b="1" dirty="0">
                <a:solidFill>
                  <a:srgbClr val="1B5E20"/>
                </a:solidFill>
                <a:latin typeface="Calibri" pitchFamily="34" charset="0"/>
                <a:ea typeface="Calibri" pitchFamily="34" charset="-122"/>
                <a:cs typeface="Calibri" pitchFamily="34" charset="-120"/>
              </a:rPr>
              <a:t>💰 Factibilidad Económica y Operativa</a:t>
            </a:r>
            <a:endParaRPr lang="en-US" sz="1400" dirty="0"/>
          </a:p>
        </p:txBody>
      </p:sp>
      <p:sp>
        <p:nvSpPr>
          <p:cNvPr id="11" name="Text 9"/>
          <p:cNvSpPr/>
          <p:nvPr/>
        </p:nvSpPr>
        <p:spPr>
          <a:xfrm>
            <a:off x="6492240" y="1645920"/>
            <a:ext cx="5029200" cy="4572000"/>
          </a:xfrm>
          <a:prstGeom prst="rect">
            <a:avLst/>
          </a:prstGeom>
          <a:noFill/>
          <a:ln/>
        </p:spPr>
        <p:txBody>
          <a:bodyPr wrap="square" rtlCol="0" anchor="t"/>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Costo de infraestructura: ~$0 en APIs externas.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Hardware requerido: PC estándar con 8GB RAM.</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Open Source: Todas las tecnologías son gratuitas.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Operativa: Interfaz intuitiva, sin curva de aprendizaje.</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Escalable: Agregar más datos solo requiere re-ingestar.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5E20"/>
          </a:solidFill>
          <a:ln/>
        </p:spPr>
      </p:sp>
      <p:sp>
        <p:nvSpPr>
          <p:cNvPr id="3" name="Shape 1"/>
          <p:cNvSpPr/>
          <p:nvPr/>
        </p:nvSpPr>
        <p:spPr>
          <a:xfrm>
            <a:off x="0" y="6217920"/>
            <a:ext cx="12192000" cy="640080"/>
          </a:xfrm>
          <a:prstGeom prst="rect">
            <a:avLst/>
          </a:prstGeom>
          <a:solidFill>
            <a:srgbClr val="4CAF50"/>
          </a:solidFill>
          <a:ln/>
        </p:spPr>
      </p:sp>
      <p:sp>
        <p:nvSpPr>
          <p:cNvPr id="4" name="Text 2"/>
          <p:cNvSpPr/>
          <p:nvPr/>
        </p:nvSpPr>
        <p:spPr>
          <a:xfrm>
            <a:off x="457200" y="457200"/>
            <a:ext cx="1828800" cy="1828800"/>
          </a:xfrm>
          <a:prstGeom prst="rect">
            <a:avLst/>
          </a:prstGeom>
          <a:noFill/>
          <a:ln/>
        </p:spPr>
        <p:txBody>
          <a:bodyPr wrap="square" rtlCol="0" anchor="ctr"/>
          <a:lstStyle/>
          <a:p>
            <a:pPr indent="0" marL="0">
              <a:buNone/>
            </a:pPr>
            <a:r>
              <a:rPr lang="en-US" sz="12000" dirty="0">
                <a:solidFill>
                  <a:srgbClr val="4CAF50"/>
                </a:solidFill>
                <a:latin typeface="Georgia" pitchFamily="34" charset="0"/>
                <a:ea typeface="Georgia" pitchFamily="34" charset="-122"/>
                <a:cs typeface="Georgia" pitchFamily="34" charset="-120"/>
              </a:rPr>
              <a:t>"</a:t>
            </a:r>
            <a:endParaRPr lang="en-US" sz="12000" dirty="0"/>
          </a:p>
        </p:txBody>
      </p:sp>
      <p:sp>
        <p:nvSpPr>
          <p:cNvPr id="5" name="Text 3"/>
          <p:cNvSpPr/>
          <p:nvPr/>
        </p:nvSpPr>
        <p:spPr>
          <a:xfrm>
            <a:off x="914400" y="1371600"/>
            <a:ext cx="10058400" cy="3657600"/>
          </a:xfrm>
          <a:prstGeom prst="rect">
            <a:avLst/>
          </a:prstGeom>
          <a:noFill/>
          <a:ln/>
        </p:spPr>
        <p:txBody>
          <a:bodyPr wrap="square" rtlCol="0" anchor="ctr"/>
          <a:lstStyle/>
          <a:p>
            <a:pPr algn="ctr" indent="0" marL="0">
              <a:buNone/>
            </a:pPr>
            <a:r>
              <a:rPr lang="en-US" sz="2000" i="1" dirty="0">
                <a:solidFill>
                  <a:srgbClr val="FFFFFF"/>
                </a:solidFill>
                <a:latin typeface="Calibri" pitchFamily="34" charset="0"/>
                <a:ea typeface="Calibri" pitchFamily="34" charset="-122"/>
                <a:cs typeface="Calibri" pitchFamily="34" charset="-120"/>
              </a:rPr>
              <a:t>AgroBot transforma más de 60 calendarios de fertilización históricos en una herramienta de consulta inteligente, accesible e inmediata — democratizando el conocimiento agronómico técnico de la zona occidental de El Salvador.</a:t>
            </a:r>
            <a:endParaRPr lang="en-US" sz="2000" dirty="0"/>
          </a:p>
        </p:txBody>
      </p:sp>
      <p:sp>
        <p:nvSpPr>
          <p:cNvPr id="6" name="Text 4"/>
          <p:cNvSpPr/>
          <p:nvPr/>
        </p:nvSpPr>
        <p:spPr>
          <a:xfrm>
            <a:off x="914400" y="5303520"/>
            <a:ext cx="10058400" cy="548640"/>
          </a:xfrm>
          <a:prstGeom prst="rect">
            <a:avLst/>
          </a:prstGeom>
          <a:noFill/>
          <a:ln/>
        </p:spPr>
        <p:txBody>
          <a:bodyPr wrap="square" rtlCol="0" anchor="ctr"/>
          <a:lstStyle/>
          <a:p>
            <a:pPr algn="ctr" indent="0" marL="0">
              <a:buNone/>
            </a:pPr>
            <a:r>
              <a:rPr lang="en-US" sz="1400" b="1" dirty="0">
                <a:solidFill>
                  <a:srgbClr val="4CAF50"/>
                </a:solidFill>
                <a:latin typeface="Calibri" pitchFamily="34" charset="0"/>
                <a:ea typeface="Calibri" pitchFamily="34" charset="-122"/>
                <a:cs typeface="Calibri" pitchFamily="34" charset="-120"/>
              </a:rPr>
              <a:t>— Capítulo 3 — Metodología de AgroBot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5E20"/>
          </a:solidFill>
          <a:ln/>
        </p:spPr>
      </p:sp>
      <p:sp>
        <p:nvSpPr>
          <p:cNvPr id="3" name="Shape 1"/>
          <p:cNvSpPr/>
          <p:nvPr/>
        </p:nvSpPr>
        <p:spPr>
          <a:xfrm>
            <a:off x="0" y="5943600"/>
            <a:ext cx="12192000" cy="914400"/>
          </a:xfrm>
          <a:prstGeom prst="rect">
            <a:avLst/>
          </a:prstGeom>
          <a:solidFill>
            <a:srgbClr val="4CAF50"/>
          </a:solidFill>
          <a:ln/>
        </p:spPr>
      </p:sp>
      <p:sp>
        <p:nvSpPr>
          <p:cNvPr id="4" name="Text 2"/>
          <p:cNvSpPr/>
          <p:nvPr/>
        </p:nvSpPr>
        <p:spPr>
          <a:xfrm>
            <a:off x="457200" y="1371600"/>
            <a:ext cx="10972800" cy="137160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¡Gracias!</a:t>
            </a:r>
            <a:endParaRPr lang="en-US" sz="5400" dirty="0"/>
          </a:p>
        </p:txBody>
      </p:sp>
      <p:sp>
        <p:nvSpPr>
          <p:cNvPr id="5" name="Text 3"/>
          <p:cNvSpPr/>
          <p:nvPr/>
        </p:nvSpPr>
        <p:spPr>
          <a:xfrm>
            <a:off x="457200" y="2926080"/>
            <a:ext cx="10972800" cy="914400"/>
          </a:xfrm>
          <a:prstGeom prst="rect">
            <a:avLst/>
          </a:prstGeom>
          <a:noFill/>
          <a:ln/>
        </p:spPr>
        <p:txBody>
          <a:bodyPr wrap="square" rtlCol="0" anchor="ctr"/>
          <a:lstStyle/>
          <a:p>
            <a:pPr algn="ctr" indent="0" marL="0">
              <a:buNone/>
            </a:pPr>
            <a:r>
              <a:rPr lang="en-US" sz="3000" i="1" dirty="0">
                <a:solidFill>
                  <a:srgbClr val="4CAF50"/>
                </a:solidFill>
                <a:latin typeface="Calibri" pitchFamily="34" charset="0"/>
                <a:ea typeface="Calibri" pitchFamily="34" charset="-122"/>
                <a:cs typeface="Calibri" pitchFamily="34" charset="-120"/>
              </a:rPr>
              <a:t>¿Preguntas?</a:t>
            </a:r>
            <a:endParaRPr lang="en-US" sz="3000" dirty="0"/>
          </a:p>
        </p:txBody>
      </p:sp>
      <p:sp>
        <p:nvSpPr>
          <p:cNvPr id="6" name="Text 4"/>
          <p:cNvSpPr/>
          <p:nvPr/>
        </p:nvSpPr>
        <p:spPr>
          <a:xfrm>
            <a:off x="457200" y="5989320"/>
            <a:ext cx="10972800" cy="77724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AgroBot — Asistente Virtual para Fertilización Agrícola</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Universidad de Sonsonate  |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2026-06-09T00:46:56Z</dcterms:created>
  <dcterms:modified xsi:type="dcterms:W3CDTF">2026-06-09T00:46:56Z</dcterms:modified>
</cp:coreProperties>
</file>